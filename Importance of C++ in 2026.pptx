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8288000" cy="10287000"/>
  <p:notesSz cx="6858000" cy="9144000"/>
  <p:embeddedFontLst>
    <p:embeddedFont>
      <p:font typeface="Gruppo" panose="020B0604020202020204" charset="0"/>
      <p:regular r:id="rId12"/>
    </p:embeddedFont>
    <p:embeddedFont>
      <p:font typeface="Raleway" pitchFamily="2" charset="0"/>
      <p:bold r:id="rId13"/>
      <p:boldItalic r:id="rId14"/>
    </p:embeddedFont>
    <p:embeddedFont>
      <p:font typeface="Raleway Light"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Wuu6IKhVy3rJh7GfSfWt82t7+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9" autoAdjust="0"/>
  </p:normalViewPr>
  <p:slideViewPr>
    <p:cSldViewPr snapToGrid="0">
      <p:cViewPr varScale="1">
        <p:scale>
          <a:sx n="41" d="100"/>
          <a:sy n="41" d="100"/>
        </p:scale>
        <p:origin x="820" y="2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customschemas.google.com/relationships/presentationmetadata" Target="meta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 is the fastest languages out there. It has very low latency and is placed right above the assembly language. It performs around 10 to the power 8 operations per second and highly optimized codes are written in </a:t>
            </a:r>
            <a:r>
              <a:rPr lang="en-US" dirty="0" err="1"/>
              <a:t>c++</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look at the software running the world: Chrome's engine? C++. Windows drivers and core services? Tons of C++. MySQL? Built in C++. </a:t>
            </a:r>
          </a:p>
          <a:p>
            <a:pPr marL="0" lvl="0" indent="0" algn="l" rtl="0">
              <a:spcBef>
                <a:spcPts val="0"/>
              </a:spcBef>
              <a:spcAft>
                <a:spcPts val="0"/>
              </a:spcAft>
              <a:buNone/>
            </a:pPr>
            <a:r>
              <a:rPr lang="en-US" dirty="0"/>
              <a:t>If you're aiming for Google, Microsoft, or any infra role, knowing C++ means understanding how these mission-critical systems actually work under the hood.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evolves fast, The committee ships a new standard every three years keep adding more safety features and modern programming styles.</a:t>
            </a:r>
          </a:p>
          <a:p>
            <a:pPr marL="0" lvl="0" indent="0" algn="l" rtl="0">
              <a:spcBef>
                <a:spcPts val="0"/>
              </a:spcBef>
              <a:spcAft>
                <a:spcPts val="0"/>
              </a:spcAft>
              <a:buNone/>
            </a:pPr>
            <a:r>
              <a:rPr lang="en-US" dirty="0"/>
              <a:t>This evolution keeps C++ modern while preserving its speed—perfect for long-term career relevance.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Over 10 million developers worldwide know C++ deeply. The ecosystem is unmatched—decades of battle-tested libraries. And the jobs? FAANG still uses C++ for core infra (Google's backend, Facebook's HHVM roots, Amazon's services). High-performance roles pay premium because not everyone masters it.</a:t>
            </a:r>
            <a:endParaRPr dirty="0"/>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you are talking about game development, you cant miss Unreal Engine.. and guess what.. this is built on </a:t>
            </a:r>
            <a:r>
              <a:rPr lang="en-US" dirty="0" err="1"/>
              <a:t>c++</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finance, every nanosecond = money. Hedge funds pay premium for C++ </a:t>
            </a:r>
            <a:r>
              <a:rPr lang="en-US" dirty="0" err="1"/>
              <a:t>devs</a:t>
            </a:r>
            <a:r>
              <a:rPr lang="en-US" dirty="0"/>
              <a:t> who shave latency.</a:t>
            </a:r>
          </a:p>
          <a:p>
            <a:pPr marL="0" lvl="0" indent="0" algn="l" rtl="0">
              <a:spcBef>
                <a:spcPts val="0"/>
              </a:spcBef>
              <a:spcAft>
                <a:spcPts val="0"/>
              </a:spcAft>
              <a:buNone/>
            </a:pPr>
            <a:r>
              <a:rPr lang="en-US" dirty="0"/>
              <a:t>If you're into algo trading, this is your lane.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Major IOT and automotive devices are all using </a:t>
            </a:r>
            <a:r>
              <a:rPr lang="en-US" dirty="0" err="1"/>
              <a:t>c++</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Aerospace sims and drone controls? C++ ensures no delays. </a:t>
            </a:r>
          </a:p>
          <a:p>
            <a:pPr marL="0" lvl="0" indent="0" algn="l" rtl="0">
              <a:spcBef>
                <a:spcPts val="0"/>
              </a:spcBef>
              <a:spcAft>
                <a:spcPts val="0"/>
              </a:spcAft>
              <a:buNone/>
            </a:pPr>
            <a:r>
              <a:rPr lang="en-US" dirty="0"/>
              <a:t>Companies like SpaceX or robotics startups test this in systems design rounds.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AI frameworks (TensorFlow, </a:t>
            </a:r>
            <a:r>
              <a:rPr lang="en-US" dirty="0" err="1"/>
              <a:t>PyTorch</a:t>
            </a:r>
            <a:r>
              <a:rPr lang="en-US" dirty="0"/>
              <a:t> use C++ for GPU acceleration and speed.</a:t>
            </a: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Interviewers want to assess whether you have good understanding of the fundamentals or not. </a:t>
            </a:r>
          </a:p>
          <a:p>
            <a:pPr marL="0" lvl="0" indent="0" algn="l" rtl="0">
              <a:spcBef>
                <a:spcPts val="0"/>
              </a:spcBef>
              <a:spcAft>
                <a:spcPts val="0"/>
              </a:spcAft>
              <a:buNone/>
            </a:pPr>
            <a:r>
              <a:rPr lang="en-US" dirty="0"/>
              <a:t>Here, C++ forces you to handle manual memory (new/delete, smart pointers), avoid leaks, and optimize</a:t>
            </a:r>
          </a:p>
          <a:p>
            <a:pPr marL="0" lvl="0" indent="0" algn="l" rtl="0">
              <a:spcBef>
                <a:spcPts val="0"/>
              </a:spcBef>
              <a:spcAft>
                <a:spcPts val="0"/>
              </a:spcAft>
              <a:buNone/>
            </a:pPr>
            <a:r>
              <a:rPr lang="en-US" dirty="0"/>
              <a:t>other languages hides this, so C++ reveals if you truly get low-level concepts.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FAANG wants engineers who understand what's happening under the hood.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is very Common in systems roles → Infra, backend at big tech.</a:t>
            </a:r>
          </a:p>
          <a:p>
            <a:pPr marL="0" lvl="0" indent="0" algn="l" rtl="0">
              <a:spcBef>
                <a:spcPts val="0"/>
              </a:spcBef>
              <a:spcAft>
                <a:spcPts val="0"/>
              </a:spcAft>
              <a:buNone/>
            </a:pPr>
            <a:r>
              <a:rPr lang="en-US" dirty="0"/>
              <a:t>Google, Meta, Amazon use C++ heavily for core infra, search backends, low-latency services. Systems design rounds often discuss C++ trade-offs (concurrency, memory).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you're targeting Google infra, Microsoft Azure cores, or Amazon services—these are written in C++. </a:t>
            </a:r>
          </a:p>
          <a:p>
            <a:pPr marL="0" lvl="0" indent="0" algn="l" rtl="0">
              <a:spcBef>
                <a:spcPts val="0"/>
              </a:spcBef>
              <a:spcAft>
                <a:spcPts val="0"/>
              </a:spcAft>
              <a:buNone/>
            </a:pPr>
            <a:r>
              <a:rPr lang="en-US" dirty="0"/>
              <a:t>Interviewers from those teams expect you to speak their language. Even general roles respect C++ as proof you can handle performance-critical code.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Allowed everywhere → Shows low-level thinking (even if job uses other </a:t>
            </a:r>
            <a:r>
              <a:rPr lang="en-US" dirty="0" err="1"/>
              <a:t>langs</a:t>
            </a:r>
            <a:r>
              <a:rPr lang="en-US" dirty="0"/>
              <a:t>).</a:t>
            </a:r>
          </a:p>
          <a:p>
            <a:pPr marL="0" lvl="0" indent="0" algn="l" rtl="0">
              <a:spcBef>
                <a:spcPts val="0"/>
              </a:spcBef>
              <a:spcAft>
                <a:spcPts val="0"/>
              </a:spcAft>
              <a:buNone/>
            </a:pPr>
            <a:r>
              <a:rPr lang="en-US" dirty="0"/>
              <a:t>Choosing C++ signals strong fundamentals.</a:t>
            </a:r>
            <a:endParaRPr dirty="0"/>
          </a:p>
        </p:txBody>
      </p:sp>
      <p:sp>
        <p:nvSpPr>
          <p:cNvPr id="140" name="Google Shape;14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Myth busted—companies aren't ditching C++ for new stuff. It's the go-to for anything needing speed, control, and scale. In 2026, we're seeing more new C++ code than ever in critical areas.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Google's search backend, Amazon's services, Meta's infra, TensorFlow/</a:t>
            </a:r>
            <a:r>
              <a:rPr lang="en-US" dirty="0" err="1"/>
              <a:t>PyTorch</a:t>
            </a:r>
            <a:r>
              <a:rPr lang="en-US" dirty="0"/>
              <a:t> high-performance parts—all rely on C++ cores.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Google encourages C++ for core systems, Meta's servers/AI infra are massively C++, Amazon's low-latency services too. Microsoft has legacy but still uses C++ widely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Unreal Engine 5 (Nanite/Lumen) is new C++, HFT firms build fresh low-latency platforms in C++, Tesla/Waymo autonomous stacks use C++ for real-time control.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Common pattern: Python for prototyping/ML scripting, C++ for performance hotspots (via bindings). Many companies add Rust for new safe components, but C++ dominates existing/new cores.</a:t>
            </a:r>
            <a:endParaRPr dirty="0"/>
          </a:p>
        </p:txBody>
      </p:sp>
      <p:sp>
        <p:nvSpPr>
          <p:cNvPr id="155" name="Google Shape;15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 shows you exactly how memory allocates, data moves, and code executes on hardware. You'll debug crashes, understand cache lines, and grasp why things fail. This is the foundation interviewers probe in systems design—know it, and you think like a real engineer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FAANG, optimizing for speed/space wins offers. C++ trains you to profile, avoid copies with moves, and squeeze performance. Even in Python, you'll spot bottlenecks faster because you know what's expensive under the hood.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Full OOP (inheritance, polymorphism), powerful templates, plus lambdas</a:t>
            </a:r>
          </a:p>
          <a:p>
            <a:pPr marL="0" lvl="0" indent="0" algn="l" rtl="0">
              <a:spcBef>
                <a:spcPts val="0"/>
              </a:spcBef>
              <a:spcAft>
                <a:spcPts val="0"/>
              </a:spcAft>
              <a:buNone/>
            </a:pPr>
            <a:r>
              <a:rPr lang="en-US" dirty="0"/>
              <a:t>You'll code flexibly, and these ideas transfer everywhere—making you appreciate clean design in any language.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 preps you perfectly—threads, locks, async without GC pauses. You'll design low-latency services confidently, exactly what big tech wants for backend/infra roles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 knowledge improves Python (efficiency, C extensions) and Java (pointer-like refs, performance tuning).</a:t>
            </a:r>
          </a:p>
          <a:p>
            <a:pPr marL="0" lvl="0" indent="0" algn="l" rtl="0">
              <a:spcBef>
                <a:spcPts val="0"/>
              </a:spcBef>
              <a:spcAft>
                <a:spcPts val="0"/>
              </a:spcAft>
              <a:buNone/>
            </a:pPr>
            <a:r>
              <a:rPr lang="en-US" dirty="0"/>
              <a:t>Python/Java feel like toys afterward—you'll write faster, cleaner code and debug like a pro.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Once you understand the basics, switching languages become really easy and you will be able to master the fundamentals.</a:t>
            </a:r>
            <a:endParaRPr dirty="0"/>
          </a:p>
        </p:txBody>
      </p:sp>
      <p:sp>
        <p:nvSpPr>
          <p:cNvPr id="188" name="Google Shape;18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effectLst/>
              </a:rPr>
              <a:t>If you're serious about cracking FAANG, subscribe and turn on notifications—we're building a roadmap starting with basics to advanced systems design.</a:t>
            </a:r>
          </a:p>
          <a:p>
            <a:pPr marL="0" lvl="0" indent="0" algn="l" rtl="0">
              <a:spcBef>
                <a:spcPts val="0"/>
              </a:spcBef>
              <a:spcAft>
                <a:spcPts val="0"/>
              </a:spcAft>
              <a:buNone/>
            </a:pPr>
            <a:endParaRPr dirty="0"/>
          </a:p>
        </p:txBody>
      </p:sp>
      <p:sp>
        <p:nvSpPr>
          <p:cNvPr id="248" name="Google Shape;2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a:spLocks noGrp="1"/>
          </p:cNvSpPr>
          <p:nvPr>
            <p:ph type="pic" idx="2"/>
          </p:nvPr>
        </p:nvSpPr>
        <p:spPr>
          <a:xfrm>
            <a:off x="1792288" y="612775"/>
            <a:ext cx="5486400" cy="4114800"/>
          </a:xfrm>
          <a:prstGeom prst="rect">
            <a:avLst/>
          </a:prstGeom>
          <a:noFill/>
          <a:ln>
            <a:noFill/>
          </a:ln>
        </p:spPr>
      </p:sp>
      <p:sp>
        <p:nvSpPr>
          <p:cNvPr id="64" name="Google Shape;64;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4.png"/><Relationship Id="rId7"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image" Target="../media/image9.jpg"/><Relationship Id="rId4" Type="http://schemas.openxmlformats.org/officeDocument/2006/relationships/image" Target="../media/image1.png"/><Relationship Id="rId9"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000000"/>
            </a:gs>
          </a:gsLst>
          <a:lin ang="0" scaled="0"/>
        </a:gradFill>
        <a:effectLst/>
      </p:bgPr>
    </p:bg>
    <p:spTree>
      <p:nvGrpSpPr>
        <p:cNvPr id="1" name="Shape 83"/>
        <p:cNvGrpSpPr/>
        <p:nvPr/>
      </p:nvGrpSpPr>
      <p:grpSpPr>
        <a:xfrm>
          <a:off x="0" y="0"/>
          <a:ext cx="0" cy="0"/>
          <a:chOff x="0" y="0"/>
          <a:chExt cx="0" cy="0"/>
        </a:xfrm>
      </p:grpSpPr>
      <p:sp>
        <p:nvSpPr>
          <p:cNvPr id="84" name="Google Shape;84;p1"/>
          <p:cNvSpPr/>
          <p:nvPr/>
        </p:nvSpPr>
        <p:spPr>
          <a:xfrm>
            <a:off x="15154235" y="-723790"/>
            <a:ext cx="3513477" cy="1884501"/>
          </a:xfrm>
          <a:custGeom>
            <a:avLst/>
            <a:gdLst/>
            <a:ahLst/>
            <a:cxnLst/>
            <a:rect l="l" t="t" r="r" b="b"/>
            <a:pathLst>
              <a:path w="3513477" h="1884501" extrusionOk="0">
                <a:moveTo>
                  <a:pt x="0" y="0"/>
                </a:moveTo>
                <a:lnTo>
                  <a:pt x="3513477" y="0"/>
                </a:lnTo>
                <a:lnTo>
                  <a:pt x="3513477" y="1884501"/>
                </a:lnTo>
                <a:lnTo>
                  <a:pt x="0" y="1884501"/>
                </a:lnTo>
                <a:lnTo>
                  <a:pt x="0" y="0"/>
                </a:lnTo>
                <a:close/>
              </a:path>
            </a:pathLst>
          </a:custGeom>
          <a:blipFill rotWithShape="1">
            <a:blip r:embed="rId3">
              <a:alphaModFix/>
            </a:blip>
            <a:stretch>
              <a:fillRect/>
            </a:stretch>
          </a:blipFill>
          <a:ln>
            <a:noFill/>
          </a:ln>
        </p:spPr>
        <p:txBody>
          <a:bodyPr/>
          <a:lstStyle/>
          <a:p>
            <a:endParaRPr lang="en-US"/>
          </a:p>
        </p:txBody>
      </p:sp>
      <p:sp>
        <p:nvSpPr>
          <p:cNvPr id="85" name="Google Shape;85;p1"/>
          <p:cNvSpPr/>
          <p:nvPr/>
        </p:nvSpPr>
        <p:spPr>
          <a:xfrm>
            <a:off x="7372862" y="2035655"/>
            <a:ext cx="3799594" cy="678844"/>
          </a:xfrm>
          <a:custGeom>
            <a:avLst/>
            <a:gdLst/>
            <a:ahLst/>
            <a:cxnLst/>
            <a:rect l="l" t="t" r="r" b="b"/>
            <a:pathLst>
              <a:path w="3799594" h="678844" extrusionOk="0">
                <a:moveTo>
                  <a:pt x="0" y="0"/>
                </a:moveTo>
                <a:lnTo>
                  <a:pt x="3799594" y="0"/>
                </a:lnTo>
                <a:lnTo>
                  <a:pt x="3799594" y="678843"/>
                </a:lnTo>
                <a:lnTo>
                  <a:pt x="0" y="678843"/>
                </a:lnTo>
                <a:lnTo>
                  <a:pt x="0" y="0"/>
                </a:lnTo>
                <a:close/>
              </a:path>
            </a:pathLst>
          </a:custGeom>
          <a:blipFill rotWithShape="1">
            <a:blip r:embed="rId4">
              <a:alphaModFix/>
            </a:blip>
            <a:stretch>
              <a:fillRect/>
            </a:stretch>
          </a:blipFill>
          <a:ln>
            <a:noFill/>
          </a:ln>
        </p:spPr>
        <p:txBody>
          <a:bodyPr/>
          <a:lstStyle/>
          <a:p>
            <a:endParaRPr lang="en-US"/>
          </a:p>
        </p:txBody>
      </p:sp>
      <p:sp>
        <p:nvSpPr>
          <p:cNvPr id="86" name="Google Shape;86;p1"/>
          <p:cNvSpPr/>
          <p:nvPr/>
        </p:nvSpPr>
        <p:spPr>
          <a:xfrm>
            <a:off x="-227249" y="8933667"/>
            <a:ext cx="3513477" cy="1884501"/>
          </a:xfrm>
          <a:custGeom>
            <a:avLst/>
            <a:gdLst/>
            <a:ahLst/>
            <a:cxnLst/>
            <a:rect l="l" t="t" r="r" b="b"/>
            <a:pathLst>
              <a:path w="3513477" h="1884501" extrusionOk="0">
                <a:moveTo>
                  <a:pt x="0" y="0"/>
                </a:moveTo>
                <a:lnTo>
                  <a:pt x="3513477" y="0"/>
                </a:lnTo>
                <a:lnTo>
                  <a:pt x="3513477" y="1884502"/>
                </a:lnTo>
                <a:lnTo>
                  <a:pt x="0" y="1884502"/>
                </a:lnTo>
                <a:lnTo>
                  <a:pt x="0" y="0"/>
                </a:lnTo>
                <a:close/>
              </a:path>
            </a:pathLst>
          </a:custGeom>
          <a:blipFill rotWithShape="1">
            <a:blip r:embed="rId3">
              <a:alphaModFix/>
            </a:blip>
            <a:stretch>
              <a:fillRect/>
            </a:stretch>
          </a:blipFill>
          <a:ln>
            <a:noFill/>
          </a:ln>
        </p:spPr>
        <p:txBody>
          <a:bodyPr/>
          <a:lstStyle/>
          <a:p>
            <a:endParaRPr lang="en-US"/>
          </a:p>
        </p:txBody>
      </p:sp>
      <p:sp>
        <p:nvSpPr>
          <p:cNvPr id="87" name="Google Shape;87;p1"/>
          <p:cNvSpPr/>
          <p:nvPr/>
        </p:nvSpPr>
        <p:spPr>
          <a:xfrm>
            <a:off x="7995088" y="8294975"/>
            <a:ext cx="2311059" cy="638693"/>
          </a:xfrm>
          <a:custGeom>
            <a:avLst/>
            <a:gdLst/>
            <a:ahLst/>
            <a:cxnLst/>
            <a:rect l="l" t="t" r="r" b="b"/>
            <a:pathLst>
              <a:path w="2311059" h="638693" extrusionOk="0">
                <a:moveTo>
                  <a:pt x="0" y="0"/>
                </a:moveTo>
                <a:lnTo>
                  <a:pt x="2311059" y="0"/>
                </a:lnTo>
                <a:lnTo>
                  <a:pt x="2311059" y="638692"/>
                </a:lnTo>
                <a:lnTo>
                  <a:pt x="0" y="638692"/>
                </a:lnTo>
                <a:lnTo>
                  <a:pt x="0" y="0"/>
                </a:lnTo>
                <a:close/>
              </a:path>
            </a:pathLst>
          </a:custGeom>
          <a:blipFill rotWithShape="1">
            <a:blip r:embed="rId5">
              <a:alphaModFix/>
            </a:blip>
            <a:stretch>
              <a:fillRect/>
            </a:stretch>
          </a:blipFill>
          <a:ln>
            <a:noFill/>
          </a:ln>
        </p:spPr>
        <p:txBody>
          <a:bodyPr/>
          <a:lstStyle/>
          <a:p>
            <a:endParaRPr lang="en-US"/>
          </a:p>
        </p:txBody>
      </p:sp>
      <p:sp>
        <p:nvSpPr>
          <p:cNvPr id="88" name="Google Shape;88;p1"/>
          <p:cNvSpPr/>
          <p:nvPr/>
        </p:nvSpPr>
        <p:spPr>
          <a:xfrm>
            <a:off x="7670550"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6">
              <a:alphaModFix/>
            </a:blip>
            <a:stretch>
              <a:fillRect/>
            </a:stretch>
          </a:blipFill>
          <a:ln>
            <a:noFill/>
          </a:ln>
        </p:spPr>
        <p:txBody>
          <a:bodyPr/>
          <a:lstStyle/>
          <a:p>
            <a:endParaRPr lang="en-US"/>
          </a:p>
        </p:txBody>
      </p:sp>
      <p:sp>
        <p:nvSpPr>
          <p:cNvPr id="89" name="Google Shape;89;p1"/>
          <p:cNvSpPr txBox="1"/>
          <p:nvPr/>
        </p:nvSpPr>
        <p:spPr>
          <a:xfrm>
            <a:off x="2837906" y="3266948"/>
            <a:ext cx="12612300" cy="1999200"/>
          </a:xfrm>
          <a:prstGeom prst="rect">
            <a:avLst/>
          </a:prstGeom>
          <a:noFill/>
          <a:ln>
            <a:noFill/>
          </a:ln>
        </p:spPr>
        <p:txBody>
          <a:bodyPr spcFirstLastPara="1" wrap="square" lIns="0" tIns="0" rIns="0" bIns="0" anchor="t" anchorCtr="0">
            <a:spAutoFit/>
          </a:bodyPr>
          <a:lstStyle/>
          <a:p>
            <a:pPr marL="0" marR="0" lvl="0" indent="0" algn="ctr" rtl="0">
              <a:lnSpc>
                <a:spcPct val="108994"/>
              </a:lnSpc>
              <a:spcBef>
                <a:spcPts val="0"/>
              </a:spcBef>
              <a:spcAft>
                <a:spcPts val="0"/>
              </a:spcAft>
              <a:buNone/>
            </a:pPr>
            <a:r>
              <a:rPr lang="en-US" sz="6215" b="0" i="0" u="none" strike="noStrike" cap="none" dirty="0">
                <a:solidFill>
                  <a:srgbClr val="FFFFFF"/>
                </a:solidFill>
                <a:latin typeface="Arial"/>
                <a:ea typeface="Arial"/>
                <a:cs typeface="Arial"/>
                <a:sym typeface="Arial"/>
              </a:rPr>
              <a:t>WHY IS </a:t>
            </a:r>
            <a:r>
              <a:rPr lang="en-US" sz="6215" dirty="0">
                <a:solidFill>
                  <a:srgbClr val="FFFFFF"/>
                </a:solidFill>
              </a:rPr>
              <a:t>C++</a:t>
            </a:r>
            <a:endParaRPr dirty="0"/>
          </a:p>
          <a:p>
            <a:pPr marL="0" marR="0" lvl="0" indent="0" algn="ctr" rtl="0">
              <a:lnSpc>
                <a:spcPct val="108994"/>
              </a:lnSpc>
              <a:spcBef>
                <a:spcPts val="0"/>
              </a:spcBef>
              <a:spcAft>
                <a:spcPts val="0"/>
              </a:spcAft>
              <a:buNone/>
            </a:pPr>
            <a:r>
              <a:rPr lang="en-US" sz="6215" b="0" i="0" u="none" strike="noStrike" cap="none" dirty="0">
                <a:solidFill>
                  <a:srgbClr val="FFFFFF"/>
                </a:solidFill>
                <a:latin typeface="Arial"/>
                <a:ea typeface="Arial"/>
                <a:cs typeface="Arial"/>
                <a:sym typeface="Arial"/>
              </a:rPr>
              <a:t>STILL RELEVANT IN 2026?</a:t>
            </a:r>
            <a:endParaRPr dirty="0"/>
          </a:p>
        </p:txBody>
      </p:sp>
      <p:sp>
        <p:nvSpPr>
          <p:cNvPr id="90" name="Google Shape;90;p1"/>
          <p:cNvSpPr txBox="1"/>
          <p:nvPr/>
        </p:nvSpPr>
        <p:spPr>
          <a:xfrm>
            <a:off x="8451875" y="1182456"/>
            <a:ext cx="2324294" cy="34483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dirty="0" err="1">
                <a:solidFill>
                  <a:srgbClr val="FFFFFF"/>
                </a:solidFill>
                <a:latin typeface="Gruppo"/>
                <a:ea typeface="Gruppo"/>
                <a:cs typeface="Gruppo"/>
                <a:sym typeface="Gruppo"/>
              </a:rPr>
              <a:t>TechWithMohak</a:t>
            </a:r>
            <a:endParaRPr dirty="0"/>
          </a:p>
        </p:txBody>
      </p:sp>
      <p:sp>
        <p:nvSpPr>
          <p:cNvPr id="91" name="Google Shape;91;p1"/>
          <p:cNvSpPr txBox="1"/>
          <p:nvPr/>
        </p:nvSpPr>
        <p:spPr>
          <a:xfrm>
            <a:off x="7981853" y="9073308"/>
            <a:ext cx="2324294"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page 01</a:t>
            </a:r>
            <a:endParaRPr/>
          </a:p>
        </p:txBody>
      </p:sp>
      <p:sp>
        <p:nvSpPr>
          <p:cNvPr id="92" name="Google Shape;92;p1"/>
          <p:cNvSpPr txBox="1"/>
          <p:nvPr/>
        </p:nvSpPr>
        <p:spPr>
          <a:xfrm>
            <a:off x="2837906" y="6411298"/>
            <a:ext cx="12612187" cy="877400"/>
          </a:xfrm>
          <a:prstGeom prst="rect">
            <a:avLst/>
          </a:prstGeom>
          <a:noFill/>
          <a:ln>
            <a:noFill/>
          </a:ln>
        </p:spPr>
        <p:txBody>
          <a:bodyPr spcFirstLastPara="1" wrap="square" lIns="0" tIns="0" rIns="0" bIns="0" anchor="t" anchorCtr="0">
            <a:spAutoFit/>
          </a:bodyPr>
          <a:lstStyle/>
          <a:p>
            <a:pPr marL="0" marR="0" lvl="0" indent="0" algn="ctr" rtl="0">
              <a:lnSpc>
                <a:spcPct val="108994"/>
              </a:lnSpc>
              <a:spcBef>
                <a:spcPts val="0"/>
              </a:spcBef>
              <a:spcAft>
                <a:spcPts val="0"/>
              </a:spcAft>
              <a:buNone/>
            </a:pPr>
            <a:r>
              <a:rPr lang="en-US" sz="6215" b="0" i="0" u="none" strike="noStrike" cap="none" dirty="0">
                <a:solidFill>
                  <a:srgbClr val="FFFFFF"/>
                </a:solidFill>
                <a:latin typeface="Arial"/>
                <a:ea typeface="Arial"/>
                <a:cs typeface="Arial"/>
                <a:sym typeface="Arial"/>
              </a:rPr>
              <a:t>BY MOHAK MAHESHWARI</a:t>
            </a:r>
            <a:endParaRPr dirty="0"/>
          </a:p>
        </p:txBody>
      </p:sp>
      <p:sp>
        <p:nvSpPr>
          <p:cNvPr id="93" name="Google Shape;93;p1"/>
          <p:cNvSpPr txBox="1"/>
          <p:nvPr/>
        </p:nvSpPr>
        <p:spPr>
          <a:xfrm>
            <a:off x="2837906" y="7336323"/>
            <a:ext cx="12612300" cy="540900"/>
          </a:xfrm>
          <a:prstGeom prst="rect">
            <a:avLst/>
          </a:prstGeom>
          <a:noFill/>
          <a:ln>
            <a:noFill/>
          </a:ln>
        </p:spPr>
        <p:txBody>
          <a:bodyPr spcFirstLastPara="1" wrap="square" lIns="0" tIns="0" rIns="0" bIns="0" anchor="t" anchorCtr="0">
            <a:spAutoFit/>
          </a:bodyPr>
          <a:lstStyle/>
          <a:p>
            <a:pPr marL="0" marR="0" lvl="0" indent="0" algn="ctr" rtl="0">
              <a:lnSpc>
                <a:spcPct val="108990"/>
              </a:lnSpc>
              <a:spcBef>
                <a:spcPts val="0"/>
              </a:spcBef>
              <a:spcAft>
                <a:spcPts val="0"/>
              </a:spcAft>
              <a:buNone/>
            </a:pPr>
            <a:r>
              <a:rPr lang="en-US" sz="3515" b="0" i="0" u="none" strike="noStrike" cap="none">
                <a:solidFill>
                  <a:srgbClr val="99FFFF"/>
                </a:solidFill>
                <a:latin typeface="Arial"/>
                <a:ea typeface="Arial"/>
                <a:cs typeface="Arial"/>
                <a:sym typeface="Arial"/>
              </a:rPr>
              <a:t>EX-MICROSOFT | IIT(ISM) DHANBAD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97"/>
        <p:cNvGrpSpPr/>
        <p:nvPr/>
      </p:nvGrpSpPr>
      <p:grpSpPr>
        <a:xfrm>
          <a:off x="0" y="0"/>
          <a:ext cx="0" cy="0"/>
          <a:chOff x="0" y="0"/>
          <a:chExt cx="0" cy="0"/>
        </a:xfrm>
      </p:grpSpPr>
      <p:sp>
        <p:nvSpPr>
          <p:cNvPr id="98" name="Google Shape;98;p2"/>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99" name="Google Shape;99;p2"/>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00" name="Google Shape;100;p2"/>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01" name="Google Shape;101;p2"/>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102" name="Google Shape;102;p2"/>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103" name="Google Shape;103;p2"/>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104" name="Google Shape;104;p2"/>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105" name="Google Shape;105;p2"/>
          <p:cNvSpPr txBox="1"/>
          <p:nvPr/>
        </p:nvSpPr>
        <p:spPr>
          <a:xfrm>
            <a:off x="7981853" y="9073308"/>
            <a:ext cx="2324294"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page 02</a:t>
            </a:r>
            <a:endParaRPr/>
          </a:p>
        </p:txBody>
      </p:sp>
      <p:sp>
        <p:nvSpPr>
          <p:cNvPr id="106" name="Google Shape;106;p2"/>
          <p:cNvSpPr txBox="1"/>
          <p:nvPr/>
        </p:nvSpPr>
        <p:spPr>
          <a:xfrm>
            <a:off x="1776071" y="3231293"/>
            <a:ext cx="8056247" cy="3453730"/>
          </a:xfrm>
          <a:prstGeom prst="rect">
            <a:avLst/>
          </a:prstGeom>
          <a:noFill/>
          <a:ln>
            <a:noFill/>
          </a:ln>
        </p:spPr>
        <p:txBody>
          <a:bodyPr spcFirstLastPara="1" wrap="square" lIns="0" tIns="0" rIns="0" bIns="0" anchor="t" anchorCtr="0">
            <a:spAutoFit/>
          </a:bodyPr>
          <a:lstStyle/>
          <a:p>
            <a:pPr marL="0" marR="0" lvl="0" indent="0" algn="l" rtl="0">
              <a:lnSpc>
                <a:spcPct val="126007"/>
              </a:lnSpc>
              <a:spcBef>
                <a:spcPts val="0"/>
              </a:spcBef>
              <a:spcAft>
                <a:spcPts val="0"/>
              </a:spcAft>
              <a:buNone/>
            </a:pPr>
            <a:r>
              <a:rPr lang="en-US" sz="5460" b="0" i="0" u="none" strike="noStrike" cap="none">
                <a:solidFill>
                  <a:srgbClr val="FFFFFF"/>
                </a:solidFill>
                <a:latin typeface="Arial"/>
                <a:ea typeface="Arial"/>
                <a:cs typeface="Arial"/>
                <a:sym typeface="Arial"/>
              </a:rPr>
              <a:t>WHY IS C++ STILL RELEVANT IN 2026?</a:t>
            </a:r>
            <a:endParaRPr/>
          </a:p>
        </p:txBody>
      </p:sp>
      <p:sp>
        <p:nvSpPr>
          <p:cNvPr id="107" name="Google Shape;107;p2"/>
          <p:cNvSpPr txBox="1"/>
          <p:nvPr/>
        </p:nvSpPr>
        <p:spPr>
          <a:xfrm>
            <a:off x="8720301" y="2501666"/>
            <a:ext cx="8890832" cy="4623060"/>
          </a:xfrm>
          <a:prstGeom prst="rect">
            <a:avLst/>
          </a:prstGeom>
          <a:noFill/>
          <a:ln>
            <a:noFill/>
          </a:ln>
        </p:spPr>
        <p:txBody>
          <a:bodyPr spcFirstLastPara="1" wrap="square" lIns="0" tIns="0" rIns="0" bIns="0" anchor="t" anchorCtr="0">
            <a:spAutoFit/>
          </a:bodyPr>
          <a:lstStyle/>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Unmatched performance — Closest to hardware, zero-cost abstractions.</a:t>
            </a:r>
          </a:p>
          <a:p>
            <a:pPr marL="599704" marR="0" lvl="1" indent="-299852" algn="l" rtl="0">
              <a:lnSpc>
                <a:spcPct val="107994"/>
              </a:lnSpc>
              <a:spcBef>
                <a:spcPts val="0"/>
              </a:spcBef>
              <a:spcAft>
                <a:spcPts val="0"/>
              </a:spcAft>
              <a:buClr>
                <a:srgbClr val="FFFFFF"/>
              </a:buClr>
              <a:buSzPts val="2777"/>
              <a:buFont typeface="Arial"/>
              <a:buChar char="•"/>
            </a:pP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Powers critical systems — Browsers (Chrome), OS (Windows/Linux parts), databases (MySQL).</a:t>
            </a:r>
          </a:p>
          <a:p>
            <a:pPr marL="599704" marR="0" lvl="1" indent="-299852" algn="l" rtl="0">
              <a:lnSpc>
                <a:spcPct val="107994"/>
              </a:lnSpc>
              <a:spcBef>
                <a:spcPts val="0"/>
              </a:spcBef>
              <a:spcAft>
                <a:spcPts val="0"/>
              </a:spcAft>
              <a:buClr>
                <a:srgbClr val="FFFFFF"/>
              </a:buClr>
              <a:buSzPts val="2777"/>
              <a:buFont typeface="Arial"/>
              <a:buChar char="•"/>
            </a:pPr>
            <a:endParaRPr dirty="0"/>
          </a:p>
          <a:p>
            <a:pPr marL="299852" marR="0" lvl="1" algn="l" rtl="0">
              <a:lnSpc>
                <a:spcPct val="107994"/>
              </a:lnSpc>
              <a:spcBef>
                <a:spcPts val="0"/>
              </a:spcBef>
              <a:spcAft>
                <a:spcPts val="0"/>
              </a:spcAft>
              <a:buClr>
                <a:srgbClr val="FFFFFF"/>
              </a:buClr>
              <a:buSzPts val="2777"/>
            </a:pP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Evolving fast — New standards every 3 years (C++23/26 adding safety + modern features).</a:t>
            </a:r>
          </a:p>
          <a:p>
            <a:pPr marL="599704" marR="0" lvl="1" indent="-299852" algn="l" rtl="0">
              <a:lnSpc>
                <a:spcPct val="107994"/>
              </a:lnSpc>
              <a:spcBef>
                <a:spcPts val="0"/>
              </a:spcBef>
              <a:spcAft>
                <a:spcPts val="0"/>
              </a:spcAft>
              <a:buClr>
                <a:srgbClr val="FFFFFF"/>
              </a:buClr>
              <a:buSzPts val="2777"/>
              <a:buFont typeface="Arial"/>
              <a:buChar char="•"/>
            </a:pP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11M+ developers worldwide — Massive ecosystem, jobs in high-performance apps.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111"/>
        <p:cNvGrpSpPr/>
        <p:nvPr/>
      </p:nvGrpSpPr>
      <p:grpSpPr>
        <a:xfrm>
          <a:off x="0" y="0"/>
          <a:ext cx="0" cy="0"/>
          <a:chOff x="0" y="0"/>
          <a:chExt cx="0" cy="0"/>
        </a:xfrm>
      </p:grpSpPr>
      <p:sp>
        <p:nvSpPr>
          <p:cNvPr id="112" name="Google Shape;112;p3"/>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113" name="Google Shape;113;p3"/>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14" name="Google Shape;114;p3"/>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15" name="Google Shape;115;p3"/>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116" name="Google Shape;116;p3"/>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grpSp>
        <p:nvGrpSpPr>
          <p:cNvPr id="117" name="Google Shape;117;p3"/>
          <p:cNvGrpSpPr/>
          <p:nvPr/>
        </p:nvGrpSpPr>
        <p:grpSpPr>
          <a:xfrm>
            <a:off x="3572633" y="3400153"/>
            <a:ext cx="2452126" cy="2441209"/>
            <a:chOff x="-33258" y="-75"/>
            <a:chExt cx="14906544" cy="14840178"/>
          </a:xfrm>
        </p:grpSpPr>
        <p:sp>
          <p:nvSpPr>
            <p:cNvPr id="118" name="Google Shape;118;p3"/>
            <p:cNvSpPr/>
            <p:nvPr/>
          </p:nvSpPr>
          <p:spPr>
            <a:xfrm>
              <a:off x="-33258" y="-75"/>
              <a:ext cx="14906544" cy="14840178"/>
            </a:xfrm>
            <a:custGeom>
              <a:avLst/>
              <a:gdLst/>
              <a:ahLst/>
              <a:cxnLst/>
              <a:rect l="l" t="t" r="r" b="b"/>
              <a:pathLst>
                <a:path w="14906544" h="14840178" extrusionOk="0">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168022" y="200309"/>
              <a:ext cx="14503985" cy="14439411"/>
            </a:xfrm>
            <a:custGeom>
              <a:avLst/>
              <a:gdLst/>
              <a:ahLst/>
              <a:cxnLst/>
              <a:rect l="l" t="t" r="r" b="b"/>
              <a:pathLst>
                <a:path w="14503985" h="14439411" extrusionOk="0">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531276" y="561946"/>
              <a:ext cx="13777477" cy="13716137"/>
            </a:xfrm>
            <a:custGeom>
              <a:avLst/>
              <a:gdLst/>
              <a:ahLst/>
              <a:cxnLst/>
              <a:rect l="l" t="t" r="r" b="b"/>
              <a:pathLst>
                <a:path w="13777477" h="13716137" extrusionOk="0">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7">
                <a:alphaModFix/>
              </a:blip>
              <a:stretch>
                <a:fillRect l="-38885" r="-38883"/>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3"/>
          <p:cNvGrpSpPr/>
          <p:nvPr/>
        </p:nvGrpSpPr>
        <p:grpSpPr>
          <a:xfrm>
            <a:off x="6421512" y="3400153"/>
            <a:ext cx="2452126" cy="2441209"/>
            <a:chOff x="-33258" y="-75"/>
            <a:chExt cx="14906544" cy="14840178"/>
          </a:xfrm>
        </p:grpSpPr>
        <p:sp>
          <p:nvSpPr>
            <p:cNvPr id="122" name="Google Shape;122;p3"/>
            <p:cNvSpPr/>
            <p:nvPr/>
          </p:nvSpPr>
          <p:spPr>
            <a:xfrm>
              <a:off x="-33258" y="-75"/>
              <a:ext cx="14906544" cy="14840178"/>
            </a:xfrm>
            <a:custGeom>
              <a:avLst/>
              <a:gdLst/>
              <a:ahLst/>
              <a:cxnLst/>
              <a:rect l="l" t="t" r="r" b="b"/>
              <a:pathLst>
                <a:path w="14906544" h="14840178" extrusionOk="0">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68022" y="200309"/>
              <a:ext cx="14503985" cy="14439411"/>
            </a:xfrm>
            <a:custGeom>
              <a:avLst/>
              <a:gdLst/>
              <a:ahLst/>
              <a:cxnLst/>
              <a:rect l="l" t="t" r="r" b="b"/>
              <a:pathLst>
                <a:path w="14503985" h="14439411" extrusionOk="0">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531276" y="561946"/>
              <a:ext cx="13777477" cy="13716137"/>
            </a:xfrm>
            <a:custGeom>
              <a:avLst/>
              <a:gdLst/>
              <a:ahLst/>
              <a:cxnLst/>
              <a:rect l="l" t="t" r="r" b="b"/>
              <a:pathLst>
                <a:path w="13777477" h="13716137" extrusionOk="0">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8">
                <a:alphaModFix/>
              </a:blip>
              <a:stretch>
                <a:fillRect l="-24595" r="-24595"/>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3"/>
          <p:cNvGrpSpPr/>
          <p:nvPr/>
        </p:nvGrpSpPr>
        <p:grpSpPr>
          <a:xfrm>
            <a:off x="9266343" y="3400153"/>
            <a:ext cx="2452126" cy="2441209"/>
            <a:chOff x="-33258" y="-75"/>
            <a:chExt cx="14906544" cy="14840178"/>
          </a:xfrm>
        </p:grpSpPr>
        <p:sp>
          <p:nvSpPr>
            <p:cNvPr id="126" name="Google Shape;126;p3"/>
            <p:cNvSpPr/>
            <p:nvPr/>
          </p:nvSpPr>
          <p:spPr>
            <a:xfrm>
              <a:off x="-33258" y="-75"/>
              <a:ext cx="14906544" cy="14840178"/>
            </a:xfrm>
            <a:custGeom>
              <a:avLst/>
              <a:gdLst/>
              <a:ahLst/>
              <a:cxnLst/>
              <a:rect l="l" t="t" r="r" b="b"/>
              <a:pathLst>
                <a:path w="14906544" h="14840178" extrusionOk="0">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168022" y="200309"/>
              <a:ext cx="14503985" cy="14439411"/>
            </a:xfrm>
            <a:custGeom>
              <a:avLst/>
              <a:gdLst/>
              <a:ahLst/>
              <a:cxnLst/>
              <a:rect l="l" t="t" r="r" b="b"/>
              <a:pathLst>
                <a:path w="14503985" h="14439411" extrusionOk="0">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531276" y="561946"/>
              <a:ext cx="13777477" cy="13716137"/>
            </a:xfrm>
            <a:custGeom>
              <a:avLst/>
              <a:gdLst/>
              <a:ahLst/>
              <a:cxnLst/>
              <a:rect l="l" t="t" r="r" b="b"/>
              <a:pathLst>
                <a:path w="13777477" h="13716137" extrusionOk="0">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9">
                <a:alphaModFix/>
              </a:blip>
              <a:stretch>
                <a:fillRect l="-24711" r="-24711"/>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3"/>
          <p:cNvGrpSpPr/>
          <p:nvPr/>
        </p:nvGrpSpPr>
        <p:grpSpPr>
          <a:xfrm>
            <a:off x="12279898" y="3400153"/>
            <a:ext cx="2452126" cy="2441209"/>
            <a:chOff x="-33258" y="-75"/>
            <a:chExt cx="14906544" cy="14840178"/>
          </a:xfrm>
        </p:grpSpPr>
        <p:sp>
          <p:nvSpPr>
            <p:cNvPr id="130" name="Google Shape;130;p3"/>
            <p:cNvSpPr/>
            <p:nvPr/>
          </p:nvSpPr>
          <p:spPr>
            <a:xfrm>
              <a:off x="-33258" y="-75"/>
              <a:ext cx="14906544" cy="14840178"/>
            </a:xfrm>
            <a:custGeom>
              <a:avLst/>
              <a:gdLst/>
              <a:ahLst/>
              <a:cxnLst/>
              <a:rect l="l" t="t" r="r" b="b"/>
              <a:pathLst>
                <a:path w="14906544" h="14840178" extrusionOk="0">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8022" y="200309"/>
              <a:ext cx="14503985" cy="14439411"/>
            </a:xfrm>
            <a:custGeom>
              <a:avLst/>
              <a:gdLst/>
              <a:ahLst/>
              <a:cxnLst/>
              <a:rect l="l" t="t" r="r" b="b"/>
              <a:pathLst>
                <a:path w="14503985" h="14439411" extrusionOk="0">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531276" y="561946"/>
              <a:ext cx="13777477" cy="13716137"/>
            </a:xfrm>
            <a:custGeom>
              <a:avLst/>
              <a:gdLst/>
              <a:ahLst/>
              <a:cxnLst/>
              <a:rect l="l" t="t" r="r" b="b"/>
              <a:pathLst>
                <a:path w="13777477" h="13716137" extrusionOk="0">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10">
                <a:alphaModFix/>
              </a:blip>
              <a:stretch>
                <a:fillRect l="-47360" r="-3575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 name="Google Shape;133;p3"/>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dirty="0" err="1">
                <a:solidFill>
                  <a:srgbClr val="FFFFFF"/>
                </a:solidFill>
                <a:latin typeface="Gruppo"/>
                <a:ea typeface="Gruppo"/>
                <a:cs typeface="Gruppo"/>
                <a:sym typeface="Gruppo"/>
              </a:rPr>
              <a:t>TechWithMohak</a:t>
            </a:r>
            <a:endParaRPr dirty="0"/>
          </a:p>
        </p:txBody>
      </p:sp>
      <p:sp>
        <p:nvSpPr>
          <p:cNvPr id="134" name="Google Shape;134;p3"/>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135" name="Google Shape;135;p3"/>
          <p:cNvSpPr txBox="1"/>
          <p:nvPr/>
        </p:nvSpPr>
        <p:spPr>
          <a:xfrm>
            <a:off x="7981853" y="9073308"/>
            <a:ext cx="2324294"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page 03</a:t>
            </a:r>
            <a:endParaRPr/>
          </a:p>
        </p:txBody>
      </p:sp>
      <p:sp>
        <p:nvSpPr>
          <p:cNvPr id="136" name="Google Shape;136;p3"/>
          <p:cNvSpPr txBox="1"/>
          <p:nvPr/>
        </p:nvSpPr>
        <p:spPr>
          <a:xfrm>
            <a:off x="2051778" y="2203845"/>
            <a:ext cx="15207600" cy="1090200"/>
          </a:xfrm>
          <a:prstGeom prst="rect">
            <a:avLst/>
          </a:prstGeom>
          <a:noFill/>
          <a:ln>
            <a:noFill/>
          </a:ln>
        </p:spPr>
        <p:txBody>
          <a:bodyPr spcFirstLastPara="1" wrap="square" lIns="0" tIns="0" rIns="0" bIns="0" anchor="t" anchorCtr="0">
            <a:spAutoFit/>
          </a:bodyPr>
          <a:lstStyle/>
          <a:p>
            <a:pPr marL="0" marR="0" lvl="0" indent="0" algn="ctr" rtl="0">
              <a:lnSpc>
                <a:spcPct val="126049"/>
              </a:lnSpc>
              <a:spcBef>
                <a:spcPts val="0"/>
              </a:spcBef>
              <a:spcAft>
                <a:spcPts val="0"/>
              </a:spcAft>
              <a:buNone/>
            </a:pPr>
            <a:r>
              <a:rPr lang="en-US" sz="3359" b="0" i="0" u="none" strike="noStrike" cap="none" dirty="0">
                <a:solidFill>
                  <a:srgbClr val="FFFFFF"/>
                </a:solidFill>
                <a:latin typeface="Arial"/>
                <a:ea typeface="Arial"/>
                <a:cs typeface="Arial"/>
                <a:sym typeface="Arial"/>
              </a:rPr>
              <a:t>IN WHICH INDUSTRY/SECTOR IS C++ A MUST-HAVE?</a:t>
            </a:r>
            <a:endParaRPr dirty="0"/>
          </a:p>
          <a:p>
            <a:pPr marL="0" marR="0" lvl="0" indent="0" algn="ctr" rtl="0">
              <a:lnSpc>
                <a:spcPct val="84761"/>
              </a:lnSpc>
              <a:spcBef>
                <a:spcPts val="0"/>
              </a:spcBef>
              <a:spcAft>
                <a:spcPts val="0"/>
              </a:spcAft>
              <a:buNone/>
            </a:pPr>
            <a:endParaRPr sz="3359" b="0" i="0" u="none" strike="noStrike" cap="none" dirty="0">
              <a:solidFill>
                <a:srgbClr val="FFFFFF"/>
              </a:solidFill>
              <a:latin typeface="Arial"/>
              <a:ea typeface="Arial"/>
              <a:cs typeface="Arial"/>
              <a:sym typeface="Arial"/>
            </a:endParaRPr>
          </a:p>
        </p:txBody>
      </p:sp>
      <p:sp>
        <p:nvSpPr>
          <p:cNvPr id="137" name="Google Shape;137;p3"/>
          <p:cNvSpPr txBox="1"/>
          <p:nvPr/>
        </p:nvSpPr>
        <p:spPr>
          <a:xfrm>
            <a:off x="2529687" y="6403254"/>
            <a:ext cx="13890000" cy="2274000"/>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Game Development → Unreal Engine, real-time graphics.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Finance/Trading → High-frequency trading, low-latency systems.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Embedded/IoT/Automotive → Resource-constrained devices, firmware.</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Aerospace &amp; Robotics → Real-time control, simulations.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High-Performance Computing → Scientific simulations, AI backends.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141"/>
        <p:cNvGrpSpPr/>
        <p:nvPr/>
      </p:nvGrpSpPr>
      <p:grpSpPr>
        <a:xfrm>
          <a:off x="0" y="0"/>
          <a:ext cx="0" cy="0"/>
          <a:chOff x="0" y="0"/>
          <a:chExt cx="0" cy="0"/>
        </a:xfrm>
      </p:grpSpPr>
      <p:sp>
        <p:nvSpPr>
          <p:cNvPr id="142" name="Google Shape;142;p4"/>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143" name="Google Shape;143;p4"/>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44" name="Google Shape;144;p4"/>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45" name="Google Shape;145;p4"/>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146" name="Google Shape;146;p4"/>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147" name="Google Shape;147;p4"/>
          <p:cNvSpPr/>
          <p:nvPr/>
        </p:nvSpPr>
        <p:spPr>
          <a:xfrm>
            <a:off x="10972679" y="3320582"/>
            <a:ext cx="6166594" cy="4542895"/>
          </a:xfrm>
          <a:custGeom>
            <a:avLst/>
            <a:gdLst/>
            <a:ahLst/>
            <a:cxnLst/>
            <a:rect l="l" t="t" r="r" b="b"/>
            <a:pathLst>
              <a:path w="6166594" h="4542895" extrusionOk="0">
                <a:moveTo>
                  <a:pt x="0" y="0"/>
                </a:moveTo>
                <a:lnTo>
                  <a:pt x="6166594" y="0"/>
                </a:lnTo>
                <a:lnTo>
                  <a:pt x="6166594" y="4542894"/>
                </a:lnTo>
                <a:lnTo>
                  <a:pt x="0" y="4542894"/>
                </a:lnTo>
                <a:lnTo>
                  <a:pt x="0" y="0"/>
                </a:lnTo>
                <a:close/>
              </a:path>
            </a:pathLst>
          </a:custGeom>
          <a:blipFill rotWithShape="1">
            <a:blip r:embed="rId7">
              <a:alphaModFix amt="99000"/>
            </a:blip>
            <a:stretch>
              <a:fillRect l="-14647" t="-17113" r="-14647"/>
            </a:stretch>
          </a:blipFill>
          <a:ln>
            <a:noFill/>
          </a:ln>
        </p:spPr>
        <p:txBody>
          <a:bodyPr/>
          <a:lstStyle/>
          <a:p>
            <a:endParaRPr lang="en-US"/>
          </a:p>
        </p:txBody>
      </p:sp>
      <p:sp>
        <p:nvSpPr>
          <p:cNvPr id="148" name="Google Shape;148;p4"/>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149" name="Google Shape;149;p4"/>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150" name="Google Shape;150;p4"/>
          <p:cNvSpPr txBox="1"/>
          <p:nvPr/>
        </p:nvSpPr>
        <p:spPr>
          <a:xfrm>
            <a:off x="7981853" y="9073308"/>
            <a:ext cx="2324294"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page 04</a:t>
            </a:r>
            <a:endParaRPr/>
          </a:p>
        </p:txBody>
      </p:sp>
      <p:sp>
        <p:nvSpPr>
          <p:cNvPr id="151" name="Google Shape;151;p4"/>
          <p:cNvSpPr txBox="1"/>
          <p:nvPr/>
        </p:nvSpPr>
        <p:spPr>
          <a:xfrm>
            <a:off x="1573614" y="2102224"/>
            <a:ext cx="9399066" cy="1218358"/>
          </a:xfrm>
          <a:prstGeom prst="rect">
            <a:avLst/>
          </a:prstGeom>
          <a:noFill/>
          <a:ln>
            <a:noFill/>
          </a:ln>
        </p:spPr>
        <p:txBody>
          <a:bodyPr spcFirstLastPara="1" wrap="square" lIns="0" tIns="0" rIns="0" bIns="0" anchor="t" anchorCtr="0">
            <a:spAutoFit/>
          </a:bodyPr>
          <a:lstStyle/>
          <a:p>
            <a:pPr marL="0" marR="0" lvl="0" indent="0" algn="l" rtl="0">
              <a:lnSpc>
                <a:spcPct val="126043"/>
              </a:lnSpc>
              <a:spcBef>
                <a:spcPts val="0"/>
              </a:spcBef>
              <a:spcAft>
                <a:spcPts val="0"/>
              </a:spcAft>
              <a:buNone/>
            </a:pPr>
            <a:r>
              <a:rPr lang="en-US" sz="3859" b="1" i="0" u="none" strike="noStrike" cap="none" dirty="0">
                <a:solidFill>
                  <a:srgbClr val="FFFFFF"/>
                </a:solidFill>
                <a:latin typeface="Arial"/>
                <a:ea typeface="Arial"/>
                <a:cs typeface="Arial"/>
                <a:sym typeface="Arial"/>
              </a:rPr>
              <a:t>WHY ARE MANY INTERVIEWS STILL IN C++?</a:t>
            </a:r>
            <a:endParaRPr dirty="0"/>
          </a:p>
        </p:txBody>
      </p:sp>
      <p:sp>
        <p:nvSpPr>
          <p:cNvPr id="152" name="Google Shape;152;p4"/>
          <p:cNvSpPr txBox="1"/>
          <p:nvPr/>
        </p:nvSpPr>
        <p:spPr>
          <a:xfrm>
            <a:off x="1250211" y="4131846"/>
            <a:ext cx="8706892" cy="4099982"/>
          </a:xfrm>
          <a:prstGeom prst="rect">
            <a:avLst/>
          </a:prstGeom>
          <a:noFill/>
          <a:ln>
            <a:noFill/>
          </a:ln>
        </p:spPr>
        <p:txBody>
          <a:bodyPr spcFirstLastPara="1" wrap="square" lIns="0" tIns="0" rIns="0" bIns="0" anchor="t" anchorCtr="0">
            <a:spAutoFit/>
          </a:bodyPr>
          <a:lstStyle/>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Tests deep understanding → Memory management, pointers, optimizations.</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Powerful STL → Vectors, maps, priority queues speed up coding.</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Common in systems roles → Infra, backend at big tech.</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Allowed everywhere → Shows low-level thinking (even if job uses other </a:t>
            </a:r>
            <a:r>
              <a:rPr lang="en-US" sz="2777" b="0" i="0" u="none" strike="noStrike" cap="none" dirty="0" err="1">
                <a:solidFill>
                  <a:srgbClr val="FFFFFF"/>
                </a:solidFill>
                <a:latin typeface="Raleway Light"/>
                <a:ea typeface="Raleway Light"/>
                <a:cs typeface="Raleway Light"/>
                <a:sym typeface="Raleway Light"/>
              </a:rPr>
              <a:t>langs</a:t>
            </a:r>
            <a:r>
              <a:rPr lang="en-US" sz="2777" b="0" i="0" u="none" strike="noStrike" cap="none" dirty="0">
                <a:solidFill>
                  <a:srgbClr val="FFFFFF"/>
                </a:solidFill>
                <a:latin typeface="Raleway Light"/>
                <a:ea typeface="Raleway Light"/>
                <a:cs typeface="Raleway Light"/>
                <a:sym typeface="Raleway Light"/>
              </a:rPr>
              <a:t>).</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CP influence → Many interviewers from competitive backgrounds.</a:t>
            </a:r>
            <a:endParaRPr dirty="0"/>
          </a:p>
          <a:p>
            <a:pPr marL="0" marR="0" lvl="0" indent="0" algn="l" rtl="0">
              <a:lnSpc>
                <a:spcPct val="107994"/>
              </a:lnSpc>
              <a:spcBef>
                <a:spcPts val="0"/>
              </a:spcBef>
              <a:spcAft>
                <a:spcPts val="0"/>
              </a:spcAft>
              <a:buNone/>
            </a:pPr>
            <a:endParaRPr sz="2777" b="0" i="0" u="none" strike="noStrike" cap="none" dirty="0">
              <a:solidFill>
                <a:srgbClr val="FFFFFF"/>
              </a:solidFill>
              <a:latin typeface="Raleway Light"/>
              <a:ea typeface="Raleway Light"/>
              <a:cs typeface="Raleway Light"/>
              <a:sym typeface="Raleway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156"/>
        <p:cNvGrpSpPr/>
        <p:nvPr/>
      </p:nvGrpSpPr>
      <p:grpSpPr>
        <a:xfrm>
          <a:off x="0" y="0"/>
          <a:ext cx="0" cy="0"/>
          <a:chOff x="0" y="0"/>
          <a:chExt cx="0" cy="0"/>
        </a:xfrm>
      </p:grpSpPr>
      <p:sp>
        <p:nvSpPr>
          <p:cNvPr id="157" name="Google Shape;157;p5"/>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158" name="Google Shape;158;p5"/>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59" name="Google Shape;159;p5"/>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60" name="Google Shape;160;p5"/>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161" name="Google Shape;161;p5"/>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162" name="Google Shape;162;p5"/>
          <p:cNvSpPr/>
          <p:nvPr/>
        </p:nvSpPr>
        <p:spPr>
          <a:xfrm>
            <a:off x="3746100" y="6336961"/>
            <a:ext cx="11833983" cy="2444176"/>
          </a:xfrm>
          <a:custGeom>
            <a:avLst/>
            <a:gdLst/>
            <a:ahLst/>
            <a:cxnLst/>
            <a:rect l="l" t="t" r="r" b="b"/>
            <a:pathLst>
              <a:path w="1833394" h="378667" extrusionOk="0">
                <a:moveTo>
                  <a:pt x="15047" y="0"/>
                </a:moveTo>
                <a:lnTo>
                  <a:pt x="1818347" y="0"/>
                </a:lnTo>
                <a:cubicBezTo>
                  <a:pt x="1826657" y="0"/>
                  <a:pt x="1833394" y="6737"/>
                  <a:pt x="1833394" y="15047"/>
                </a:cubicBezTo>
                <a:lnTo>
                  <a:pt x="1833394" y="363620"/>
                </a:lnTo>
                <a:cubicBezTo>
                  <a:pt x="1833394" y="367611"/>
                  <a:pt x="1831808" y="371438"/>
                  <a:pt x="1828987" y="374260"/>
                </a:cubicBezTo>
                <a:cubicBezTo>
                  <a:pt x="1826165" y="377082"/>
                  <a:pt x="1822338" y="378667"/>
                  <a:pt x="1818347" y="378667"/>
                </a:cubicBezTo>
                <a:lnTo>
                  <a:pt x="15047" y="378667"/>
                </a:lnTo>
                <a:cubicBezTo>
                  <a:pt x="11056" y="378667"/>
                  <a:pt x="7229" y="377082"/>
                  <a:pt x="4407" y="374260"/>
                </a:cubicBezTo>
                <a:cubicBezTo>
                  <a:pt x="1585" y="371438"/>
                  <a:pt x="0" y="367611"/>
                  <a:pt x="0" y="363620"/>
                </a:cubicBezTo>
                <a:lnTo>
                  <a:pt x="0" y="15047"/>
                </a:lnTo>
                <a:cubicBezTo>
                  <a:pt x="0" y="11056"/>
                  <a:pt x="1585" y="7229"/>
                  <a:pt x="4407" y="4407"/>
                </a:cubicBezTo>
                <a:cubicBezTo>
                  <a:pt x="7229" y="1585"/>
                  <a:pt x="11056" y="0"/>
                  <a:pt x="15047" y="0"/>
                </a:cubicBezTo>
                <a:close/>
              </a:path>
            </a:pathLst>
          </a:custGeom>
          <a:blipFill rotWithShape="1">
            <a:blip r:embed="rId7">
              <a:alphaModFix/>
            </a:blip>
            <a:stretch>
              <a:fillRect t="-63120" b="-159928"/>
            </a:stretch>
          </a:blipFill>
          <a:ln w="38100" cap="rnd" cmpd="sng">
            <a:solidFill>
              <a:srgbClr val="9FCD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164" name="Google Shape;164;p5"/>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165" name="Google Shape;165;p5"/>
          <p:cNvSpPr txBox="1"/>
          <p:nvPr/>
        </p:nvSpPr>
        <p:spPr>
          <a:xfrm>
            <a:off x="7981853" y="9073308"/>
            <a:ext cx="2324294"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page 05</a:t>
            </a:r>
            <a:endParaRPr/>
          </a:p>
        </p:txBody>
      </p:sp>
      <p:sp>
        <p:nvSpPr>
          <p:cNvPr id="166" name="Google Shape;166;p5"/>
          <p:cNvSpPr txBox="1"/>
          <p:nvPr/>
        </p:nvSpPr>
        <p:spPr>
          <a:xfrm>
            <a:off x="1728302" y="2073781"/>
            <a:ext cx="15530998" cy="1255696"/>
          </a:xfrm>
          <a:prstGeom prst="rect">
            <a:avLst/>
          </a:prstGeom>
          <a:noFill/>
          <a:ln>
            <a:noFill/>
          </a:ln>
        </p:spPr>
        <p:txBody>
          <a:bodyPr spcFirstLastPara="1" wrap="square" lIns="0" tIns="0" rIns="0" bIns="0" anchor="t" anchorCtr="0">
            <a:spAutoFit/>
          </a:bodyPr>
          <a:lstStyle/>
          <a:p>
            <a:pPr marL="0" marR="0" lvl="0" indent="0" algn="ctr" rtl="0">
              <a:lnSpc>
                <a:spcPct val="126041"/>
              </a:lnSpc>
              <a:spcBef>
                <a:spcPts val="0"/>
              </a:spcBef>
              <a:spcAft>
                <a:spcPts val="0"/>
              </a:spcAft>
              <a:buNone/>
            </a:pPr>
            <a:r>
              <a:rPr lang="en-US" sz="3959" b="1" i="0" u="none" strike="noStrike" cap="none" dirty="0">
                <a:solidFill>
                  <a:srgbClr val="FFFFFF"/>
                </a:solidFill>
                <a:latin typeface="Arial"/>
                <a:ea typeface="Arial"/>
                <a:cs typeface="Arial"/>
                <a:sym typeface="Arial"/>
              </a:rPr>
              <a:t>DO COMPANIES USE C++ OR IS IT ONLY FOR LEGACY REASONS?</a:t>
            </a:r>
            <a:endParaRPr dirty="0"/>
          </a:p>
        </p:txBody>
      </p:sp>
      <p:sp>
        <p:nvSpPr>
          <p:cNvPr id="167" name="Google Shape;167;p5"/>
          <p:cNvSpPr txBox="1"/>
          <p:nvPr/>
        </p:nvSpPr>
        <p:spPr>
          <a:xfrm>
            <a:off x="2439667" y="3913379"/>
            <a:ext cx="13949439" cy="1871132"/>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No – actively used for new projects!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Performance-critical cores → Search engines, cloud infra, AI accelerators.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Modern codebases → Google, Meta, Amazon have huge C++ systems.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Not just legacy → New game engines, trading platforms, autonomous tech built in C++.</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Hybrid approach → C++ backend + Python/Java frontends.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189"/>
        <p:cNvGrpSpPr/>
        <p:nvPr/>
      </p:nvGrpSpPr>
      <p:grpSpPr>
        <a:xfrm>
          <a:off x="0" y="0"/>
          <a:ext cx="0" cy="0"/>
          <a:chOff x="0" y="0"/>
          <a:chExt cx="0" cy="0"/>
        </a:xfrm>
      </p:grpSpPr>
      <p:sp>
        <p:nvSpPr>
          <p:cNvPr id="190" name="Google Shape;190;p7"/>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191" name="Google Shape;191;p7"/>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92" name="Google Shape;192;p7"/>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193" name="Google Shape;193;p7"/>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194" name="Google Shape;194;p7"/>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195" name="Google Shape;195;p7"/>
          <p:cNvSpPr/>
          <p:nvPr/>
        </p:nvSpPr>
        <p:spPr>
          <a:xfrm>
            <a:off x="13006462" y="2345931"/>
            <a:ext cx="3598971" cy="5754169"/>
          </a:xfrm>
          <a:custGeom>
            <a:avLst/>
            <a:gdLst/>
            <a:ahLst/>
            <a:cxnLst/>
            <a:rect l="l" t="t" r="r" b="b"/>
            <a:pathLst>
              <a:path w="3598971" h="5754169" extrusionOk="0">
                <a:moveTo>
                  <a:pt x="0" y="0"/>
                </a:moveTo>
                <a:lnTo>
                  <a:pt x="3598971" y="0"/>
                </a:lnTo>
                <a:lnTo>
                  <a:pt x="3598971" y="5754169"/>
                </a:lnTo>
                <a:lnTo>
                  <a:pt x="0" y="5754169"/>
                </a:lnTo>
                <a:lnTo>
                  <a:pt x="0" y="0"/>
                </a:lnTo>
                <a:close/>
              </a:path>
            </a:pathLst>
          </a:custGeom>
          <a:blipFill rotWithShape="1">
            <a:blip r:embed="rId7">
              <a:alphaModFix/>
            </a:blip>
            <a:stretch>
              <a:fillRect/>
            </a:stretch>
          </a:blipFill>
          <a:ln>
            <a:noFill/>
          </a:ln>
        </p:spPr>
        <p:txBody>
          <a:bodyPr/>
          <a:lstStyle/>
          <a:p>
            <a:endParaRPr lang="en-US"/>
          </a:p>
        </p:txBody>
      </p:sp>
      <p:sp>
        <p:nvSpPr>
          <p:cNvPr id="196" name="Google Shape;196;p7"/>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197" name="Google Shape;197;p7"/>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198" name="Google Shape;198;p7"/>
          <p:cNvSpPr txBox="1"/>
          <p:nvPr/>
        </p:nvSpPr>
        <p:spPr>
          <a:xfrm>
            <a:off x="7981853" y="9073308"/>
            <a:ext cx="2324294" cy="34483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dirty="0">
                <a:solidFill>
                  <a:srgbClr val="FFFFFF"/>
                </a:solidFill>
                <a:latin typeface="Gruppo"/>
                <a:ea typeface="Gruppo"/>
                <a:cs typeface="Gruppo"/>
                <a:sym typeface="Gruppo"/>
              </a:rPr>
              <a:t>page 06</a:t>
            </a:r>
          </a:p>
        </p:txBody>
      </p:sp>
      <p:sp>
        <p:nvSpPr>
          <p:cNvPr id="199" name="Google Shape;199;p7"/>
          <p:cNvSpPr txBox="1"/>
          <p:nvPr/>
        </p:nvSpPr>
        <p:spPr>
          <a:xfrm>
            <a:off x="1776071" y="2798720"/>
            <a:ext cx="10106243" cy="2248582"/>
          </a:xfrm>
          <a:prstGeom prst="rect">
            <a:avLst/>
          </a:prstGeom>
          <a:noFill/>
          <a:ln>
            <a:noFill/>
          </a:ln>
        </p:spPr>
        <p:txBody>
          <a:bodyPr spcFirstLastPara="1" wrap="square" lIns="0" tIns="0" rIns="0" bIns="0" anchor="t" anchorCtr="0">
            <a:spAutoFit/>
          </a:bodyPr>
          <a:lstStyle/>
          <a:p>
            <a:pPr marL="0" marR="0" lvl="0" indent="0" algn="l" rtl="0">
              <a:lnSpc>
                <a:spcPct val="126009"/>
              </a:lnSpc>
              <a:spcBef>
                <a:spcPts val="0"/>
              </a:spcBef>
              <a:spcAft>
                <a:spcPts val="0"/>
              </a:spcAft>
              <a:buNone/>
            </a:pPr>
            <a:r>
              <a:rPr lang="en-US" sz="4360" b="0" i="0" u="none" strike="noStrike" cap="none" dirty="0">
                <a:solidFill>
                  <a:srgbClr val="FFFFFF"/>
                </a:solidFill>
                <a:latin typeface="Arial"/>
                <a:ea typeface="Arial"/>
                <a:cs typeface="Arial"/>
                <a:sym typeface="Arial"/>
              </a:rPr>
              <a:t>WHAT WILL YOU LEARN MORE IF YOU LEARN C++?</a:t>
            </a:r>
            <a:endParaRPr dirty="0"/>
          </a:p>
          <a:p>
            <a:pPr marL="0" marR="0" lvl="0" indent="0" algn="l" rtl="0">
              <a:lnSpc>
                <a:spcPct val="157798"/>
              </a:lnSpc>
              <a:spcBef>
                <a:spcPts val="0"/>
              </a:spcBef>
              <a:spcAft>
                <a:spcPts val="0"/>
              </a:spcAft>
              <a:buNone/>
            </a:pPr>
            <a:endParaRPr sz="4360" b="0" i="0" u="none" strike="noStrike" cap="none" dirty="0">
              <a:solidFill>
                <a:srgbClr val="FFFFFF"/>
              </a:solidFill>
              <a:latin typeface="Arial"/>
              <a:ea typeface="Arial"/>
              <a:cs typeface="Arial"/>
              <a:sym typeface="Arial"/>
            </a:endParaRPr>
          </a:p>
        </p:txBody>
      </p:sp>
      <p:sp>
        <p:nvSpPr>
          <p:cNvPr id="200" name="Google Shape;200;p7"/>
          <p:cNvSpPr txBox="1"/>
          <p:nvPr/>
        </p:nvSpPr>
        <p:spPr>
          <a:xfrm>
            <a:off x="1460185" y="4743067"/>
            <a:ext cx="10422130" cy="3357032"/>
          </a:xfrm>
          <a:prstGeom prst="rect">
            <a:avLst/>
          </a:prstGeom>
          <a:noFill/>
          <a:ln>
            <a:noFill/>
          </a:ln>
        </p:spPr>
        <p:txBody>
          <a:bodyPr spcFirstLastPara="1" wrap="square" lIns="0" tIns="0" rIns="0" bIns="0" anchor="t" anchorCtr="0">
            <a:spAutoFit/>
          </a:bodyPr>
          <a:lstStyle/>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Deep computer fundamentals → Memory, pointers, how code really runs.</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Performance thinking → Optimizations, zero-overhead abstractions.</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Modern paradigms → OOP, templates, functional features.</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Systems design → Build scalable, efficient software.</a:t>
            </a:r>
            <a:endParaRPr dirty="0"/>
          </a:p>
          <a:p>
            <a:pPr marL="599704" marR="0" lvl="1" indent="-299852" algn="l" rtl="0">
              <a:lnSpc>
                <a:spcPct val="107994"/>
              </a:lnSpc>
              <a:spcBef>
                <a:spcPts val="0"/>
              </a:spcBef>
              <a:spcAft>
                <a:spcPts val="0"/>
              </a:spcAft>
              <a:buClr>
                <a:srgbClr val="FFFFFF"/>
              </a:buClr>
              <a:buSzPts val="2777"/>
              <a:buFont typeface="Arial"/>
              <a:buChar char="•"/>
            </a:pPr>
            <a:r>
              <a:rPr lang="en-US" sz="2777" b="0" i="0" u="none" strike="noStrike" cap="none" dirty="0">
                <a:solidFill>
                  <a:srgbClr val="FFFFFF"/>
                </a:solidFill>
                <a:latin typeface="Raleway Light"/>
                <a:ea typeface="Raleway Light"/>
                <a:cs typeface="Raleway Light"/>
                <a:sym typeface="Raleway Light"/>
              </a:rPr>
              <a:t>Transferable skills → Makes Python/Java easier + stronger debugging.</a:t>
            </a:r>
            <a:endParaRPr dirty="0"/>
          </a:p>
          <a:p>
            <a:pPr marL="0" marR="0" lvl="0" indent="0" algn="l" rtl="0">
              <a:lnSpc>
                <a:spcPct val="107994"/>
              </a:lnSpc>
              <a:spcBef>
                <a:spcPts val="0"/>
              </a:spcBef>
              <a:spcAft>
                <a:spcPts val="0"/>
              </a:spcAft>
              <a:buNone/>
            </a:pPr>
            <a:endParaRPr sz="2777" b="0" i="0" u="none" strike="noStrike" cap="none" dirty="0">
              <a:solidFill>
                <a:srgbClr val="FFFFFF"/>
              </a:solidFill>
              <a:latin typeface="Raleway Light"/>
              <a:ea typeface="Raleway Light"/>
              <a:cs typeface="Raleway Light"/>
              <a:sym typeface="Raleway Light"/>
            </a:endParaRPr>
          </a:p>
        </p:txBody>
      </p:sp>
      <p:grpSp>
        <p:nvGrpSpPr>
          <p:cNvPr id="201" name="Google Shape;201;p7"/>
          <p:cNvGrpSpPr/>
          <p:nvPr/>
        </p:nvGrpSpPr>
        <p:grpSpPr>
          <a:xfrm>
            <a:off x="12864799" y="3291808"/>
            <a:ext cx="3983584" cy="3965849"/>
            <a:chOff x="-33258" y="-75"/>
            <a:chExt cx="14906544" cy="14840178"/>
          </a:xfrm>
        </p:grpSpPr>
        <p:sp>
          <p:nvSpPr>
            <p:cNvPr id="202" name="Google Shape;202;p7"/>
            <p:cNvSpPr/>
            <p:nvPr/>
          </p:nvSpPr>
          <p:spPr>
            <a:xfrm>
              <a:off x="-33258" y="-75"/>
              <a:ext cx="14906544" cy="14840178"/>
            </a:xfrm>
            <a:custGeom>
              <a:avLst/>
              <a:gdLst/>
              <a:ahLst/>
              <a:cxnLst/>
              <a:rect l="l" t="t" r="r" b="b"/>
              <a:pathLst>
                <a:path w="14906544" h="14840178" extrusionOk="0">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68022" y="200309"/>
              <a:ext cx="14503985" cy="14439411"/>
            </a:xfrm>
            <a:custGeom>
              <a:avLst/>
              <a:gdLst/>
              <a:ahLst/>
              <a:cxnLst/>
              <a:rect l="l" t="t" r="r" b="b"/>
              <a:pathLst>
                <a:path w="14503985" h="14439411" extrusionOk="0">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531276" y="561946"/>
              <a:ext cx="13777477" cy="13716137"/>
            </a:xfrm>
            <a:custGeom>
              <a:avLst/>
              <a:gdLst/>
              <a:ahLst/>
              <a:cxnLst/>
              <a:rect l="l" t="t" r="r" b="b"/>
              <a:pathLst>
                <a:path w="13777477" h="13716137" extrusionOk="0">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8">
                <a:alphaModFix/>
              </a:blip>
              <a:stretch>
                <a:fillRect l="-38489" r="-3848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208"/>
        <p:cNvGrpSpPr/>
        <p:nvPr/>
      </p:nvGrpSpPr>
      <p:grpSpPr>
        <a:xfrm>
          <a:off x="0" y="0"/>
          <a:ext cx="0" cy="0"/>
          <a:chOff x="0" y="0"/>
          <a:chExt cx="0" cy="0"/>
        </a:xfrm>
      </p:grpSpPr>
      <p:sp>
        <p:nvSpPr>
          <p:cNvPr id="209" name="Google Shape;209;p8"/>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210" name="Google Shape;210;p8"/>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11" name="Google Shape;211;p8"/>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12" name="Google Shape;212;p8"/>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213" name="Google Shape;213;p8"/>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214" name="Google Shape;214;p8"/>
          <p:cNvSpPr/>
          <p:nvPr/>
        </p:nvSpPr>
        <p:spPr>
          <a:xfrm>
            <a:off x="6976879" y="1463707"/>
            <a:ext cx="4334242" cy="2304488"/>
          </a:xfrm>
          <a:custGeom>
            <a:avLst/>
            <a:gdLst/>
            <a:ahLst/>
            <a:cxnLst/>
            <a:rect l="l" t="t" r="r" b="b"/>
            <a:pathLst>
              <a:path w="4334242" h="2304488" extrusionOk="0">
                <a:moveTo>
                  <a:pt x="0" y="0"/>
                </a:moveTo>
                <a:lnTo>
                  <a:pt x="4334242" y="0"/>
                </a:lnTo>
                <a:lnTo>
                  <a:pt x="4334242" y="2304488"/>
                </a:lnTo>
                <a:lnTo>
                  <a:pt x="0" y="2304488"/>
                </a:lnTo>
                <a:lnTo>
                  <a:pt x="0" y="0"/>
                </a:lnTo>
                <a:close/>
              </a:path>
            </a:pathLst>
          </a:custGeom>
          <a:blipFill rotWithShape="1">
            <a:blip r:embed="rId7">
              <a:alphaModFix/>
            </a:blip>
            <a:stretch>
              <a:fillRect b="-15430"/>
            </a:stretch>
          </a:blipFill>
          <a:ln>
            <a:noFill/>
          </a:ln>
        </p:spPr>
        <p:txBody>
          <a:bodyPr/>
          <a:lstStyle/>
          <a:p>
            <a:endParaRPr lang="en-US"/>
          </a:p>
        </p:txBody>
      </p:sp>
      <p:sp>
        <p:nvSpPr>
          <p:cNvPr id="215" name="Google Shape;215;p8"/>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216" name="Google Shape;216;p8"/>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217" name="Google Shape;217;p8"/>
          <p:cNvSpPr txBox="1"/>
          <p:nvPr/>
        </p:nvSpPr>
        <p:spPr>
          <a:xfrm>
            <a:off x="7981853" y="9073308"/>
            <a:ext cx="2324294" cy="34483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dirty="0">
                <a:solidFill>
                  <a:srgbClr val="FFFFFF"/>
                </a:solidFill>
                <a:latin typeface="Gruppo"/>
                <a:ea typeface="Gruppo"/>
                <a:cs typeface="Gruppo"/>
                <a:sym typeface="Gruppo"/>
              </a:rPr>
              <a:t>page 07</a:t>
            </a:r>
            <a:endParaRPr dirty="0"/>
          </a:p>
        </p:txBody>
      </p:sp>
      <p:sp>
        <p:nvSpPr>
          <p:cNvPr id="218" name="Google Shape;218;p8"/>
          <p:cNvSpPr txBox="1"/>
          <p:nvPr/>
        </p:nvSpPr>
        <p:spPr>
          <a:xfrm>
            <a:off x="1776071" y="4438330"/>
            <a:ext cx="15207522" cy="1218358"/>
          </a:xfrm>
          <a:prstGeom prst="rect">
            <a:avLst/>
          </a:prstGeom>
          <a:noFill/>
          <a:ln>
            <a:noFill/>
          </a:ln>
        </p:spPr>
        <p:txBody>
          <a:bodyPr spcFirstLastPara="1" wrap="square" lIns="0" tIns="0" rIns="0" bIns="0" anchor="t" anchorCtr="0">
            <a:spAutoFit/>
          </a:bodyPr>
          <a:lstStyle/>
          <a:p>
            <a:pPr marL="0" marR="0" lvl="0" indent="0" algn="ctr" rtl="0">
              <a:lnSpc>
                <a:spcPct val="126043"/>
              </a:lnSpc>
              <a:spcBef>
                <a:spcPts val="0"/>
              </a:spcBef>
              <a:spcAft>
                <a:spcPts val="0"/>
              </a:spcAft>
              <a:buNone/>
            </a:pPr>
            <a:r>
              <a:rPr lang="en-US" sz="3859" b="1" i="0" u="none" strike="noStrike" cap="none" dirty="0">
                <a:solidFill>
                  <a:srgbClr val="FFFFFF"/>
                </a:solidFill>
                <a:latin typeface="Arial"/>
                <a:ea typeface="Arial"/>
                <a:cs typeface="Arial"/>
                <a:sym typeface="Arial"/>
              </a:rPr>
              <a:t>ADVANTAGE IN LEARNING – YOU LEARN COMPETITIVE PROGRAMMING IN C++</a:t>
            </a:r>
            <a:endParaRPr dirty="0"/>
          </a:p>
        </p:txBody>
      </p:sp>
      <p:sp>
        <p:nvSpPr>
          <p:cNvPr id="219" name="Google Shape;219;p8"/>
          <p:cNvSpPr txBox="1"/>
          <p:nvPr/>
        </p:nvSpPr>
        <p:spPr>
          <a:xfrm>
            <a:off x="2497983" y="6198154"/>
            <a:ext cx="13763697" cy="1871132"/>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C++ dominates CP → 70-90% submissions on </a:t>
            </a:r>
            <a:r>
              <a:rPr lang="en-US" sz="2777" b="0" i="0" u="none" strike="noStrike" cap="none" dirty="0" err="1">
                <a:solidFill>
                  <a:srgbClr val="FFFFFF"/>
                </a:solidFill>
                <a:latin typeface="Raleway Light"/>
                <a:ea typeface="Raleway Light"/>
                <a:cs typeface="Raleway Light"/>
                <a:sym typeface="Raleway Light"/>
              </a:rPr>
              <a:t>Codeforces</a:t>
            </a:r>
            <a:r>
              <a:rPr lang="en-US" sz="2777" b="0" i="0" u="none" strike="noStrike" cap="none" dirty="0">
                <a:solidFill>
                  <a:srgbClr val="FFFFFF"/>
                </a:solidFill>
                <a:latin typeface="Raleway Light"/>
                <a:ea typeface="Raleway Light"/>
                <a:cs typeface="Raleway Light"/>
                <a:sym typeface="Raleway Light"/>
              </a:rPr>
              <a:t>/</a:t>
            </a:r>
            <a:r>
              <a:rPr lang="en-US" sz="2777" b="0" i="0" u="none" strike="noStrike" cap="none" dirty="0" err="1">
                <a:solidFill>
                  <a:srgbClr val="FFFFFF"/>
                </a:solidFill>
                <a:latin typeface="Raleway Light"/>
                <a:ea typeface="Raleway Light"/>
                <a:cs typeface="Raleway Light"/>
                <a:sym typeface="Raleway Light"/>
              </a:rPr>
              <a:t>CodeChef</a:t>
            </a:r>
            <a:r>
              <a:rPr lang="en-US" sz="2777" b="0" i="0" u="none" strike="noStrike" cap="none" dirty="0">
                <a:solidFill>
                  <a:srgbClr val="FFFFFF"/>
                </a:solidFill>
                <a:latin typeface="Raleway Light"/>
                <a:ea typeface="Raleway Light"/>
                <a:cs typeface="Raleway Light"/>
                <a:sym typeface="Raleway Light"/>
              </a:rPr>
              <a:t>.</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Speed + STL power → Handles tight constraints, no TLE.</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Learn advanced tricks → Templates, bit manipulation, fast I/O.</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Direct boost for placements → Many Indian companies test CP-style problems.</a:t>
            </a:r>
            <a:endParaRPr dirty="0"/>
          </a:p>
          <a:p>
            <a:pPr marL="0" marR="0" lvl="0" indent="0" algn="ctr" rtl="0">
              <a:lnSpc>
                <a:spcPct val="107994"/>
              </a:lnSpc>
              <a:spcBef>
                <a:spcPts val="0"/>
              </a:spcBef>
              <a:spcAft>
                <a:spcPts val="0"/>
              </a:spcAft>
              <a:buNone/>
            </a:pPr>
            <a:r>
              <a:rPr lang="en-US" sz="2777" b="0" i="0" u="none" strike="noStrike" cap="none" dirty="0">
                <a:solidFill>
                  <a:srgbClr val="FFFFFF"/>
                </a:solidFill>
                <a:latin typeface="Raleway Light"/>
                <a:ea typeface="Raleway Light"/>
                <a:cs typeface="Raleway Light"/>
                <a:sym typeface="Raleway Light"/>
              </a:rPr>
              <a:t>Edge in FAANG → Shows optimization mindset.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3B616F"/>
            </a:gs>
          </a:gsLst>
          <a:lin ang="0" scaled="0"/>
        </a:gradFill>
        <a:effectLst/>
      </p:bgPr>
    </p:bg>
    <p:spTree>
      <p:nvGrpSpPr>
        <p:cNvPr id="1" name="Shape 223"/>
        <p:cNvGrpSpPr/>
        <p:nvPr/>
      </p:nvGrpSpPr>
      <p:grpSpPr>
        <a:xfrm>
          <a:off x="0" y="0"/>
          <a:ext cx="0" cy="0"/>
          <a:chOff x="0" y="0"/>
          <a:chExt cx="0" cy="0"/>
        </a:xfrm>
      </p:grpSpPr>
      <p:sp>
        <p:nvSpPr>
          <p:cNvPr id="224" name="Google Shape;224;p9"/>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225" name="Google Shape;225;p9"/>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26" name="Google Shape;226;p9"/>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27" name="Google Shape;227;p9"/>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228" name="Google Shape;228;p9"/>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229" name="Google Shape;229;p9"/>
          <p:cNvSpPr/>
          <p:nvPr/>
        </p:nvSpPr>
        <p:spPr>
          <a:xfrm>
            <a:off x="726040" y="3360474"/>
            <a:ext cx="4130734" cy="4172512"/>
          </a:xfrm>
          <a:custGeom>
            <a:avLst/>
            <a:gdLst/>
            <a:ahLst/>
            <a:cxnLst/>
            <a:rect l="l" t="t" r="r" b="b"/>
            <a:pathLst>
              <a:path w="3840597" h="3840597" extrusionOk="0">
                <a:moveTo>
                  <a:pt x="0" y="0"/>
                </a:moveTo>
                <a:lnTo>
                  <a:pt x="3840597" y="0"/>
                </a:lnTo>
                <a:lnTo>
                  <a:pt x="3840597" y="3840598"/>
                </a:lnTo>
                <a:lnTo>
                  <a:pt x="0" y="3840598"/>
                </a:lnTo>
                <a:lnTo>
                  <a:pt x="0" y="0"/>
                </a:lnTo>
                <a:close/>
              </a:path>
            </a:pathLst>
          </a:custGeom>
          <a:blipFill rotWithShape="1">
            <a:blip r:embed="rId7">
              <a:alphaModFix/>
            </a:blip>
            <a:stretch>
              <a:fillRect/>
            </a:stretch>
          </a:blipFill>
          <a:ln>
            <a:noFill/>
          </a:ln>
        </p:spPr>
        <p:txBody>
          <a:bodyPr/>
          <a:lstStyle/>
          <a:p>
            <a:endParaRPr lang="en-US"/>
          </a:p>
        </p:txBody>
      </p:sp>
      <p:sp>
        <p:nvSpPr>
          <p:cNvPr id="230" name="Google Shape;230;p9"/>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231" name="Google Shape;231;p9"/>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232" name="Google Shape;232;p9"/>
          <p:cNvSpPr txBox="1"/>
          <p:nvPr/>
        </p:nvSpPr>
        <p:spPr>
          <a:xfrm>
            <a:off x="7981853" y="9073308"/>
            <a:ext cx="2324294" cy="34483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dirty="0">
                <a:solidFill>
                  <a:srgbClr val="FFFFFF"/>
                </a:solidFill>
                <a:latin typeface="Gruppo"/>
                <a:ea typeface="Gruppo"/>
                <a:cs typeface="Gruppo"/>
                <a:sym typeface="Gruppo"/>
              </a:rPr>
              <a:t>page 08</a:t>
            </a:r>
            <a:endParaRPr dirty="0"/>
          </a:p>
        </p:txBody>
      </p:sp>
      <p:sp>
        <p:nvSpPr>
          <p:cNvPr id="233" name="Google Shape;233;p9"/>
          <p:cNvSpPr txBox="1"/>
          <p:nvPr/>
        </p:nvSpPr>
        <p:spPr>
          <a:xfrm>
            <a:off x="1776071" y="2044931"/>
            <a:ext cx="15566407" cy="499792"/>
          </a:xfrm>
          <a:prstGeom prst="rect">
            <a:avLst/>
          </a:prstGeom>
          <a:noFill/>
          <a:ln>
            <a:noFill/>
          </a:ln>
        </p:spPr>
        <p:txBody>
          <a:bodyPr spcFirstLastPara="1" wrap="square" lIns="0" tIns="0" rIns="0" bIns="0" anchor="t" anchorCtr="0">
            <a:spAutoFit/>
          </a:bodyPr>
          <a:lstStyle/>
          <a:p>
            <a:pPr marL="0" marR="0" lvl="0" indent="0" algn="ctr" rtl="0">
              <a:lnSpc>
                <a:spcPct val="126012"/>
              </a:lnSpc>
              <a:spcBef>
                <a:spcPts val="0"/>
              </a:spcBef>
              <a:spcAft>
                <a:spcPts val="0"/>
              </a:spcAft>
              <a:buNone/>
            </a:pPr>
            <a:r>
              <a:rPr lang="en-US" sz="3160" b="1" i="0" u="none" strike="noStrike" cap="none" dirty="0">
                <a:solidFill>
                  <a:srgbClr val="FFFFFF"/>
                </a:solidFill>
                <a:latin typeface="Arial"/>
                <a:ea typeface="Arial"/>
                <a:cs typeface="Arial"/>
                <a:sym typeface="Arial"/>
              </a:rPr>
              <a:t>WHY C++ OVER PYTHON OR JAVA FOR DSA?</a:t>
            </a:r>
            <a:endParaRPr dirty="0"/>
          </a:p>
        </p:txBody>
      </p:sp>
      <p:sp>
        <p:nvSpPr>
          <p:cNvPr id="234" name="Google Shape;234;p9"/>
          <p:cNvSpPr txBox="1"/>
          <p:nvPr/>
        </p:nvSpPr>
        <p:spPr>
          <a:xfrm>
            <a:off x="1426117" y="3877647"/>
            <a:ext cx="2635152" cy="756707"/>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1" i="0" u="none" strike="noStrike" cap="none" dirty="0">
                <a:solidFill>
                  <a:srgbClr val="FFFFFF"/>
                </a:solidFill>
                <a:latin typeface="Raleway"/>
                <a:ea typeface="Raleway"/>
                <a:cs typeface="Raleway"/>
                <a:sym typeface="Raleway"/>
              </a:rPr>
              <a:t>Deeper understanding</a:t>
            </a:r>
            <a:endParaRPr dirty="0"/>
          </a:p>
        </p:txBody>
      </p:sp>
      <p:sp>
        <p:nvSpPr>
          <p:cNvPr id="235" name="Google Shape;235;p9"/>
          <p:cNvSpPr txBox="1"/>
          <p:nvPr/>
        </p:nvSpPr>
        <p:spPr>
          <a:xfrm>
            <a:off x="1251748" y="5162722"/>
            <a:ext cx="3063384" cy="2370264"/>
          </a:xfrm>
          <a:prstGeom prst="rect">
            <a:avLst/>
          </a:prstGeom>
          <a:noFill/>
          <a:ln>
            <a:noFill/>
          </a:ln>
        </p:spPr>
        <p:txBody>
          <a:bodyPr spcFirstLastPara="1" wrap="square" lIns="0" tIns="0" rIns="0" bIns="0" anchor="t" anchorCtr="0">
            <a:spAutoFit/>
          </a:bodyPr>
          <a:lstStyle/>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Manual memory management,</a:t>
            </a:r>
            <a:endParaRPr dirty="0"/>
          </a:p>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grasp DS internals (vs hidden in Python/Java).</a:t>
            </a:r>
            <a:endParaRPr dirty="0"/>
          </a:p>
          <a:p>
            <a:pPr marL="0" marR="0" lvl="0" indent="0" algn="ctr" rtl="0">
              <a:lnSpc>
                <a:spcPct val="107993"/>
              </a:lnSpc>
              <a:spcBef>
                <a:spcPts val="0"/>
              </a:spcBef>
              <a:spcAft>
                <a:spcPts val="0"/>
              </a:spcAft>
              <a:buNone/>
            </a:pPr>
            <a:endParaRPr sz="2377" b="0" i="0" u="none" strike="noStrike" cap="none" dirty="0">
              <a:solidFill>
                <a:srgbClr val="FFFFFF"/>
              </a:solidFill>
              <a:latin typeface="Raleway"/>
              <a:ea typeface="Raleway"/>
              <a:cs typeface="Raleway"/>
              <a:sym typeface="Raleway"/>
            </a:endParaRPr>
          </a:p>
        </p:txBody>
      </p:sp>
      <p:sp>
        <p:nvSpPr>
          <p:cNvPr id="236" name="Google Shape;236;p9"/>
          <p:cNvSpPr/>
          <p:nvPr/>
        </p:nvSpPr>
        <p:spPr>
          <a:xfrm>
            <a:off x="5041867" y="3360474"/>
            <a:ext cx="3887420" cy="4172512"/>
          </a:xfrm>
          <a:custGeom>
            <a:avLst/>
            <a:gdLst/>
            <a:ahLst/>
            <a:cxnLst/>
            <a:rect l="l" t="t" r="r" b="b"/>
            <a:pathLst>
              <a:path w="3840597" h="3840597" extrusionOk="0">
                <a:moveTo>
                  <a:pt x="0" y="0"/>
                </a:moveTo>
                <a:lnTo>
                  <a:pt x="3840597" y="0"/>
                </a:lnTo>
                <a:lnTo>
                  <a:pt x="3840597" y="3840598"/>
                </a:lnTo>
                <a:lnTo>
                  <a:pt x="0" y="3840598"/>
                </a:lnTo>
                <a:lnTo>
                  <a:pt x="0" y="0"/>
                </a:lnTo>
                <a:close/>
              </a:path>
            </a:pathLst>
          </a:custGeom>
          <a:blipFill rotWithShape="1">
            <a:blip r:embed="rId7">
              <a:alphaModFix/>
            </a:blip>
            <a:stretch>
              <a:fillRect/>
            </a:stretch>
          </a:blipFill>
          <a:ln>
            <a:noFill/>
          </a:ln>
        </p:spPr>
        <p:txBody>
          <a:bodyPr/>
          <a:lstStyle/>
          <a:p>
            <a:endParaRPr lang="en-US"/>
          </a:p>
        </p:txBody>
      </p:sp>
      <p:sp>
        <p:nvSpPr>
          <p:cNvPr id="237" name="Google Shape;237;p9"/>
          <p:cNvSpPr txBox="1"/>
          <p:nvPr/>
        </p:nvSpPr>
        <p:spPr>
          <a:xfrm>
            <a:off x="5715823" y="4048143"/>
            <a:ext cx="2635152" cy="756707"/>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1" i="0" u="none" strike="noStrike" cap="none">
                <a:solidFill>
                  <a:srgbClr val="FFFFFF"/>
                </a:solidFill>
                <a:latin typeface="Raleway"/>
                <a:ea typeface="Raleway"/>
                <a:cs typeface="Raleway"/>
                <a:sym typeface="Raleway"/>
              </a:rPr>
              <a:t>Speed &amp; control</a:t>
            </a:r>
            <a:endParaRPr/>
          </a:p>
        </p:txBody>
      </p:sp>
      <p:sp>
        <p:nvSpPr>
          <p:cNvPr id="238" name="Google Shape;238;p9"/>
          <p:cNvSpPr txBox="1"/>
          <p:nvPr/>
        </p:nvSpPr>
        <p:spPr>
          <a:xfrm>
            <a:off x="5567575" y="5162722"/>
            <a:ext cx="2783401" cy="1312586"/>
          </a:xfrm>
          <a:prstGeom prst="rect">
            <a:avLst/>
          </a:prstGeom>
          <a:noFill/>
          <a:ln>
            <a:noFill/>
          </a:ln>
        </p:spPr>
        <p:txBody>
          <a:bodyPr spcFirstLastPara="1" wrap="square" lIns="0" tIns="0" rIns="0" bIns="0" anchor="t" anchorCtr="0">
            <a:spAutoFit/>
          </a:bodyPr>
          <a:lstStyle/>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Critical for CP </a:t>
            </a:r>
            <a:endParaRPr dirty="0"/>
          </a:p>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a:t>
            </a:r>
            <a:endParaRPr dirty="0"/>
          </a:p>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 real-world optimizations.</a:t>
            </a:r>
            <a:endParaRPr dirty="0"/>
          </a:p>
        </p:txBody>
      </p:sp>
      <p:sp>
        <p:nvSpPr>
          <p:cNvPr id="239" name="Google Shape;239;p9"/>
          <p:cNvSpPr/>
          <p:nvPr/>
        </p:nvSpPr>
        <p:spPr>
          <a:xfrm>
            <a:off x="9358714" y="3360474"/>
            <a:ext cx="3887420" cy="4172512"/>
          </a:xfrm>
          <a:custGeom>
            <a:avLst/>
            <a:gdLst/>
            <a:ahLst/>
            <a:cxnLst/>
            <a:rect l="l" t="t" r="r" b="b"/>
            <a:pathLst>
              <a:path w="3840597" h="3840597" extrusionOk="0">
                <a:moveTo>
                  <a:pt x="0" y="0"/>
                </a:moveTo>
                <a:lnTo>
                  <a:pt x="3840597" y="0"/>
                </a:lnTo>
                <a:lnTo>
                  <a:pt x="3840597" y="3840598"/>
                </a:lnTo>
                <a:lnTo>
                  <a:pt x="0" y="3840598"/>
                </a:lnTo>
                <a:lnTo>
                  <a:pt x="0" y="0"/>
                </a:lnTo>
                <a:close/>
              </a:path>
            </a:pathLst>
          </a:custGeom>
          <a:blipFill rotWithShape="1">
            <a:blip r:embed="rId7">
              <a:alphaModFix/>
            </a:blip>
            <a:stretch>
              <a:fillRect/>
            </a:stretch>
          </a:blipFill>
          <a:ln>
            <a:noFill/>
          </a:ln>
        </p:spPr>
        <p:txBody>
          <a:bodyPr/>
          <a:lstStyle/>
          <a:p>
            <a:endParaRPr lang="en-US"/>
          </a:p>
        </p:txBody>
      </p:sp>
      <p:sp>
        <p:nvSpPr>
          <p:cNvPr id="240" name="Google Shape;240;p9"/>
          <p:cNvSpPr txBox="1"/>
          <p:nvPr/>
        </p:nvSpPr>
        <p:spPr>
          <a:xfrm>
            <a:off x="9879535" y="4048143"/>
            <a:ext cx="2635152" cy="385232"/>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1" i="0" u="none" strike="noStrike" cap="none">
                <a:solidFill>
                  <a:srgbClr val="FFFFFF"/>
                </a:solidFill>
                <a:latin typeface="Raleway"/>
                <a:ea typeface="Raleway"/>
                <a:cs typeface="Raleway"/>
                <a:sym typeface="Raleway"/>
              </a:rPr>
              <a:t>Rich STL</a:t>
            </a:r>
            <a:endParaRPr/>
          </a:p>
        </p:txBody>
      </p:sp>
      <p:sp>
        <p:nvSpPr>
          <p:cNvPr id="241" name="Google Shape;241;p9"/>
          <p:cNvSpPr txBox="1"/>
          <p:nvPr/>
        </p:nvSpPr>
        <p:spPr>
          <a:xfrm>
            <a:off x="10115317" y="4920166"/>
            <a:ext cx="2373193" cy="1975221"/>
          </a:xfrm>
          <a:prstGeom prst="rect">
            <a:avLst/>
          </a:prstGeom>
          <a:noFill/>
          <a:ln>
            <a:noFill/>
          </a:ln>
        </p:spPr>
        <p:txBody>
          <a:bodyPr spcFirstLastPara="1" wrap="square" lIns="0" tIns="0" rIns="0" bIns="0" anchor="t" anchorCtr="0">
            <a:spAutoFit/>
          </a:bodyPr>
          <a:lstStyle/>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Powerful containers/ algorithms without reinventing.</a:t>
            </a:r>
            <a:endParaRPr dirty="0"/>
          </a:p>
        </p:txBody>
      </p:sp>
      <p:sp>
        <p:nvSpPr>
          <p:cNvPr id="242" name="Google Shape;242;p9"/>
          <p:cNvSpPr/>
          <p:nvPr/>
        </p:nvSpPr>
        <p:spPr>
          <a:xfrm>
            <a:off x="13721363" y="3360474"/>
            <a:ext cx="3840597" cy="4172512"/>
          </a:xfrm>
          <a:custGeom>
            <a:avLst/>
            <a:gdLst/>
            <a:ahLst/>
            <a:cxnLst/>
            <a:rect l="l" t="t" r="r" b="b"/>
            <a:pathLst>
              <a:path w="3840597" h="3840597" extrusionOk="0">
                <a:moveTo>
                  <a:pt x="0" y="0"/>
                </a:moveTo>
                <a:lnTo>
                  <a:pt x="3840597" y="0"/>
                </a:lnTo>
                <a:lnTo>
                  <a:pt x="3840597" y="3840598"/>
                </a:lnTo>
                <a:lnTo>
                  <a:pt x="0" y="3840598"/>
                </a:lnTo>
                <a:lnTo>
                  <a:pt x="0" y="0"/>
                </a:lnTo>
                <a:close/>
              </a:path>
            </a:pathLst>
          </a:custGeom>
          <a:blipFill rotWithShape="1">
            <a:blip r:embed="rId7">
              <a:alphaModFix/>
            </a:blip>
            <a:stretch>
              <a:fillRect/>
            </a:stretch>
          </a:blipFill>
          <a:ln>
            <a:noFill/>
          </a:ln>
        </p:spPr>
        <p:txBody>
          <a:bodyPr/>
          <a:lstStyle/>
          <a:p>
            <a:endParaRPr lang="en-US"/>
          </a:p>
        </p:txBody>
      </p:sp>
      <p:sp>
        <p:nvSpPr>
          <p:cNvPr id="243" name="Google Shape;243;p9"/>
          <p:cNvSpPr txBox="1"/>
          <p:nvPr/>
        </p:nvSpPr>
        <p:spPr>
          <a:xfrm>
            <a:off x="14395319" y="4048143"/>
            <a:ext cx="2635152" cy="756707"/>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2777" b="1" i="0" u="none" strike="noStrike" cap="none">
                <a:solidFill>
                  <a:srgbClr val="FFFFFF"/>
                </a:solidFill>
                <a:latin typeface="Raleway"/>
                <a:ea typeface="Raleway"/>
                <a:cs typeface="Raleway"/>
                <a:sym typeface="Raleway"/>
              </a:rPr>
              <a:t>Interview flexibility</a:t>
            </a:r>
            <a:endParaRPr/>
          </a:p>
        </p:txBody>
      </p:sp>
      <p:sp>
        <p:nvSpPr>
          <p:cNvPr id="244" name="Google Shape;244;p9"/>
          <p:cNvSpPr txBox="1"/>
          <p:nvPr/>
        </p:nvSpPr>
        <p:spPr>
          <a:xfrm>
            <a:off x="14247071" y="5162722"/>
            <a:ext cx="2783401" cy="790088"/>
          </a:xfrm>
          <a:prstGeom prst="rect">
            <a:avLst/>
          </a:prstGeom>
          <a:noFill/>
          <a:ln>
            <a:noFill/>
          </a:ln>
        </p:spPr>
        <p:txBody>
          <a:bodyPr spcFirstLastPara="1" wrap="square" lIns="0" tIns="0" rIns="0" bIns="0" anchor="t" anchorCtr="0">
            <a:spAutoFit/>
          </a:bodyPr>
          <a:lstStyle/>
          <a:p>
            <a:pPr marL="0" marR="0" lvl="0" indent="0" algn="ctr" rtl="0">
              <a:lnSpc>
                <a:spcPct val="107993"/>
              </a:lnSpc>
              <a:spcBef>
                <a:spcPts val="0"/>
              </a:spcBef>
              <a:spcAft>
                <a:spcPts val="0"/>
              </a:spcAft>
              <a:buNone/>
            </a:pPr>
            <a:r>
              <a:rPr lang="en-US" sz="2377" b="0" i="0" u="none" strike="noStrike" cap="none" dirty="0">
                <a:solidFill>
                  <a:srgbClr val="FFFFFF"/>
                </a:solidFill>
                <a:latin typeface="Raleway"/>
                <a:ea typeface="Raleway"/>
                <a:cs typeface="Raleway"/>
                <a:sym typeface="Raleway"/>
              </a:rPr>
              <a:t>C++ shows systems depth.</a:t>
            </a:r>
            <a:endParaRPr dirty="0"/>
          </a:p>
        </p:txBody>
      </p:sp>
      <p:sp>
        <p:nvSpPr>
          <p:cNvPr id="245" name="Google Shape;245;p9"/>
          <p:cNvSpPr txBox="1"/>
          <p:nvPr/>
        </p:nvSpPr>
        <p:spPr>
          <a:xfrm>
            <a:off x="2150676" y="7934497"/>
            <a:ext cx="14416075" cy="446954"/>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3077" b="1" i="0" u="none" strike="noStrike" cap="none">
                <a:solidFill>
                  <a:srgbClr val="FFFFFF"/>
                </a:solidFill>
                <a:latin typeface="Raleway"/>
                <a:ea typeface="Raleway"/>
                <a:cs typeface="Raleway"/>
                <a:sym typeface="Raleway"/>
              </a:rPr>
              <a:t>Best of both → Master C++ first → easy to switch to Python for timed rounds.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41C4D"/>
            </a:gs>
            <a:gs pos="100000">
              <a:srgbClr val="000000"/>
            </a:gs>
          </a:gsLst>
          <a:lin ang="0" scaled="0"/>
        </a:gradFill>
        <a:effectLst/>
      </p:bgPr>
    </p:bg>
    <p:spTree>
      <p:nvGrpSpPr>
        <p:cNvPr id="1" name="Shape 249"/>
        <p:cNvGrpSpPr/>
        <p:nvPr/>
      </p:nvGrpSpPr>
      <p:grpSpPr>
        <a:xfrm>
          <a:off x="0" y="0"/>
          <a:ext cx="0" cy="0"/>
          <a:chOff x="0" y="0"/>
          <a:chExt cx="0" cy="0"/>
        </a:xfrm>
      </p:grpSpPr>
      <p:sp>
        <p:nvSpPr>
          <p:cNvPr id="250" name="Google Shape;250;p10"/>
          <p:cNvSpPr/>
          <p:nvPr/>
        </p:nvSpPr>
        <p:spPr>
          <a:xfrm>
            <a:off x="1776071" y="1028700"/>
            <a:ext cx="551414" cy="518330"/>
          </a:xfrm>
          <a:custGeom>
            <a:avLst/>
            <a:gdLst/>
            <a:ahLst/>
            <a:cxnLst/>
            <a:rect l="l" t="t" r="r" b="b"/>
            <a:pathLst>
              <a:path w="551414" h="518330" extrusionOk="0">
                <a:moveTo>
                  <a:pt x="0" y="0"/>
                </a:moveTo>
                <a:lnTo>
                  <a:pt x="551414" y="0"/>
                </a:lnTo>
                <a:lnTo>
                  <a:pt x="551414" y="518330"/>
                </a:lnTo>
                <a:lnTo>
                  <a:pt x="0" y="518330"/>
                </a:lnTo>
                <a:lnTo>
                  <a:pt x="0" y="0"/>
                </a:lnTo>
                <a:close/>
              </a:path>
            </a:pathLst>
          </a:custGeom>
          <a:blipFill rotWithShape="1">
            <a:blip r:embed="rId3">
              <a:alphaModFix/>
            </a:blip>
            <a:stretch>
              <a:fillRect/>
            </a:stretch>
          </a:blipFill>
          <a:ln>
            <a:noFill/>
          </a:ln>
        </p:spPr>
        <p:txBody>
          <a:bodyPr/>
          <a:lstStyle/>
          <a:p>
            <a:endParaRPr lang="en-US"/>
          </a:p>
        </p:txBody>
      </p:sp>
      <p:sp>
        <p:nvSpPr>
          <p:cNvPr id="251" name="Google Shape;251;p10"/>
          <p:cNvSpPr/>
          <p:nvPr/>
        </p:nvSpPr>
        <p:spPr>
          <a:xfrm>
            <a:off x="16419691" y="1084613"/>
            <a:ext cx="839609" cy="450336"/>
          </a:xfrm>
          <a:custGeom>
            <a:avLst/>
            <a:gdLst/>
            <a:ahLst/>
            <a:cxnLst/>
            <a:rect l="l" t="t" r="r" b="b"/>
            <a:pathLst>
              <a:path w="839609" h="450336" extrusionOk="0">
                <a:moveTo>
                  <a:pt x="0" y="0"/>
                </a:moveTo>
                <a:lnTo>
                  <a:pt x="839609" y="0"/>
                </a:lnTo>
                <a:lnTo>
                  <a:pt x="839609"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52" name="Google Shape;252;p10"/>
          <p:cNvSpPr/>
          <p:nvPr/>
        </p:nvSpPr>
        <p:spPr>
          <a:xfrm>
            <a:off x="15580083" y="1084613"/>
            <a:ext cx="839609" cy="450336"/>
          </a:xfrm>
          <a:custGeom>
            <a:avLst/>
            <a:gdLst/>
            <a:ahLst/>
            <a:cxnLst/>
            <a:rect l="l" t="t" r="r" b="b"/>
            <a:pathLst>
              <a:path w="839609" h="450336" extrusionOk="0">
                <a:moveTo>
                  <a:pt x="0" y="0"/>
                </a:moveTo>
                <a:lnTo>
                  <a:pt x="839608" y="0"/>
                </a:lnTo>
                <a:lnTo>
                  <a:pt x="839608" y="450335"/>
                </a:lnTo>
                <a:lnTo>
                  <a:pt x="0" y="450335"/>
                </a:lnTo>
                <a:lnTo>
                  <a:pt x="0" y="0"/>
                </a:lnTo>
                <a:close/>
              </a:path>
            </a:pathLst>
          </a:custGeom>
          <a:blipFill rotWithShape="1">
            <a:blip r:embed="rId4">
              <a:alphaModFix/>
            </a:blip>
            <a:stretch>
              <a:fillRect/>
            </a:stretch>
          </a:blipFill>
          <a:ln>
            <a:noFill/>
          </a:ln>
        </p:spPr>
        <p:txBody>
          <a:bodyPr/>
          <a:lstStyle/>
          <a:p>
            <a:endParaRPr lang="en-US"/>
          </a:p>
        </p:txBody>
      </p:sp>
      <p:sp>
        <p:nvSpPr>
          <p:cNvPr id="253" name="Google Shape;253;p10"/>
          <p:cNvSpPr/>
          <p:nvPr/>
        </p:nvSpPr>
        <p:spPr>
          <a:xfrm>
            <a:off x="1776071" y="9014517"/>
            <a:ext cx="2728988" cy="487567"/>
          </a:xfrm>
          <a:custGeom>
            <a:avLst/>
            <a:gdLst/>
            <a:ahLst/>
            <a:cxnLst/>
            <a:rect l="l" t="t" r="r" b="b"/>
            <a:pathLst>
              <a:path w="2728988" h="487567" extrusionOk="0">
                <a:moveTo>
                  <a:pt x="0" y="0"/>
                </a:moveTo>
                <a:lnTo>
                  <a:pt x="2728988" y="0"/>
                </a:lnTo>
                <a:lnTo>
                  <a:pt x="2728988" y="487566"/>
                </a:lnTo>
                <a:lnTo>
                  <a:pt x="0" y="487566"/>
                </a:lnTo>
                <a:lnTo>
                  <a:pt x="0" y="0"/>
                </a:lnTo>
                <a:close/>
              </a:path>
            </a:pathLst>
          </a:custGeom>
          <a:blipFill rotWithShape="1">
            <a:blip r:embed="rId5">
              <a:alphaModFix/>
            </a:blip>
            <a:stretch>
              <a:fillRect/>
            </a:stretch>
          </a:blipFill>
          <a:ln>
            <a:noFill/>
          </a:ln>
        </p:spPr>
        <p:txBody>
          <a:bodyPr/>
          <a:lstStyle/>
          <a:p>
            <a:endParaRPr lang="en-US"/>
          </a:p>
        </p:txBody>
      </p:sp>
      <p:sp>
        <p:nvSpPr>
          <p:cNvPr id="254" name="Google Shape;254;p10"/>
          <p:cNvSpPr/>
          <p:nvPr/>
        </p:nvSpPr>
        <p:spPr>
          <a:xfrm>
            <a:off x="12804396" y="9014517"/>
            <a:ext cx="4454904" cy="406385"/>
          </a:xfrm>
          <a:custGeom>
            <a:avLst/>
            <a:gdLst/>
            <a:ahLst/>
            <a:cxnLst/>
            <a:rect l="l" t="t" r="r" b="b"/>
            <a:pathLst>
              <a:path w="4454904" h="406385" extrusionOk="0">
                <a:moveTo>
                  <a:pt x="0" y="0"/>
                </a:moveTo>
                <a:lnTo>
                  <a:pt x="4454904" y="0"/>
                </a:lnTo>
                <a:lnTo>
                  <a:pt x="4454904" y="406385"/>
                </a:lnTo>
                <a:lnTo>
                  <a:pt x="0" y="406385"/>
                </a:lnTo>
                <a:lnTo>
                  <a:pt x="0" y="0"/>
                </a:lnTo>
                <a:close/>
              </a:path>
            </a:pathLst>
          </a:custGeom>
          <a:blipFill rotWithShape="1">
            <a:blip r:embed="rId6">
              <a:alphaModFix/>
            </a:blip>
            <a:stretch>
              <a:fillRect/>
            </a:stretch>
          </a:blipFill>
          <a:ln>
            <a:noFill/>
          </a:ln>
        </p:spPr>
        <p:txBody>
          <a:bodyPr/>
          <a:lstStyle/>
          <a:p>
            <a:endParaRPr lang="en-US"/>
          </a:p>
        </p:txBody>
      </p:sp>
      <p:sp>
        <p:nvSpPr>
          <p:cNvPr id="255" name="Google Shape;255;p10"/>
          <p:cNvSpPr txBox="1"/>
          <p:nvPr/>
        </p:nvSpPr>
        <p:spPr>
          <a:xfrm>
            <a:off x="2655994" y="1165379"/>
            <a:ext cx="2324294" cy="29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75" b="0" i="0" u="none" strike="noStrike" cap="none">
                <a:solidFill>
                  <a:srgbClr val="FFFFFF"/>
                </a:solidFill>
                <a:latin typeface="Gruppo"/>
                <a:ea typeface="Gruppo"/>
                <a:cs typeface="Gruppo"/>
                <a:sym typeface="Gruppo"/>
              </a:rPr>
              <a:t>TechWithMohak</a:t>
            </a:r>
            <a:endParaRPr/>
          </a:p>
        </p:txBody>
      </p:sp>
      <p:sp>
        <p:nvSpPr>
          <p:cNvPr id="256" name="Google Shape;256;p10"/>
          <p:cNvSpPr txBox="1"/>
          <p:nvPr/>
        </p:nvSpPr>
        <p:spPr>
          <a:xfrm>
            <a:off x="13458263" y="9073308"/>
            <a:ext cx="3147170" cy="29832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a:solidFill>
                  <a:srgbClr val="00FFFF"/>
                </a:solidFill>
                <a:latin typeface="Gruppo"/>
                <a:ea typeface="Gruppo"/>
                <a:cs typeface="Gruppo"/>
                <a:sym typeface="Gruppo"/>
              </a:rPr>
              <a:t>TechWithMohak</a:t>
            </a:r>
            <a:endParaRPr/>
          </a:p>
        </p:txBody>
      </p:sp>
      <p:sp>
        <p:nvSpPr>
          <p:cNvPr id="257" name="Google Shape;257;p10"/>
          <p:cNvSpPr txBox="1"/>
          <p:nvPr/>
        </p:nvSpPr>
        <p:spPr>
          <a:xfrm>
            <a:off x="7981853" y="9073308"/>
            <a:ext cx="2324294" cy="34483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075" b="0" i="0" u="none" strike="noStrike" cap="none" dirty="0">
                <a:solidFill>
                  <a:srgbClr val="FFFFFF"/>
                </a:solidFill>
                <a:latin typeface="Gruppo"/>
                <a:ea typeface="Gruppo"/>
                <a:cs typeface="Gruppo"/>
                <a:sym typeface="Gruppo"/>
              </a:rPr>
              <a:t>page </a:t>
            </a:r>
            <a:r>
              <a:rPr lang="en-US" sz="2075" dirty="0">
                <a:solidFill>
                  <a:srgbClr val="FFFFFF"/>
                </a:solidFill>
                <a:latin typeface="Gruppo"/>
                <a:ea typeface="Gruppo"/>
                <a:cs typeface="Gruppo"/>
                <a:sym typeface="Gruppo"/>
              </a:rPr>
              <a:t>9</a:t>
            </a:r>
            <a:endParaRPr dirty="0"/>
          </a:p>
        </p:txBody>
      </p:sp>
      <p:sp>
        <p:nvSpPr>
          <p:cNvPr id="258" name="Google Shape;258;p10"/>
          <p:cNvSpPr txBox="1"/>
          <p:nvPr/>
        </p:nvSpPr>
        <p:spPr>
          <a:xfrm>
            <a:off x="3552242" y="4458164"/>
            <a:ext cx="11183517" cy="1495220"/>
          </a:xfrm>
          <a:prstGeom prst="rect">
            <a:avLst/>
          </a:prstGeom>
          <a:noFill/>
          <a:ln>
            <a:noFill/>
          </a:ln>
        </p:spPr>
        <p:txBody>
          <a:bodyPr spcFirstLastPara="1" wrap="square" lIns="0" tIns="0" rIns="0" bIns="0" anchor="t" anchorCtr="0">
            <a:spAutoFit/>
          </a:bodyPr>
          <a:lstStyle/>
          <a:p>
            <a:pPr marL="0" marR="0" lvl="0" indent="0" algn="ctr" rtl="0">
              <a:lnSpc>
                <a:spcPct val="126002"/>
              </a:lnSpc>
              <a:spcBef>
                <a:spcPts val="0"/>
              </a:spcBef>
              <a:spcAft>
                <a:spcPts val="0"/>
              </a:spcAft>
              <a:buNone/>
            </a:pPr>
            <a:r>
              <a:rPr lang="en-US" sz="9453" b="0" i="0" u="none" strike="noStrike" cap="none">
                <a:solidFill>
                  <a:srgbClr val="FFFFFF"/>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1420</Words>
  <Application>Microsoft Office PowerPoint</Application>
  <PresentationFormat>Custom</PresentationFormat>
  <Paragraphs>141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Raleway Light</vt:lpstr>
      <vt:lpstr>Raleway</vt:lpstr>
      <vt:lpstr>Calibri</vt:lpstr>
      <vt:lpstr>Arial</vt:lpstr>
      <vt:lpstr>Gruppo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Mohak Maheshwari</cp:lastModifiedBy>
  <cp:revision>2</cp:revision>
  <dcterms:created xsi:type="dcterms:W3CDTF">2006-08-16T00:00:00Z</dcterms:created>
  <dcterms:modified xsi:type="dcterms:W3CDTF">2026-01-01T14:20:28Z</dcterms:modified>
</cp:coreProperties>
</file>